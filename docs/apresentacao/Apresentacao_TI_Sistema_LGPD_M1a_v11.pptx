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3a370d2af4ea0" /><Relationship Type="http://schemas.openxmlformats.org/officeDocument/2006/relationships/extended-properties" Target="/docProps/app.xml" Id="R29e8314191a64a44" /><Relationship Type="http://schemas.openxmlformats.org/officeDocument/2006/relationships/officeDocument" Target="/ppt/presentation.xml" Id="R0c5913f01514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fed340a51417a"/>
  </p:sldMasterIdLst>
  <p:notesMasterIdLst>
    <p:notesMasterId xmlns:r="http://schemas.openxmlformats.org/officeDocument/2006/relationships" r:id="Rc6021ba234b4496d"/>
  </p:notesMasterIdLst>
  <p:sldIdLst>
    <p:sldId xmlns:r="http://schemas.openxmlformats.org/officeDocument/2006/relationships" id="256" r:id="R9cabe42562ce4404"/>
    <p:sldId xmlns:r="http://schemas.openxmlformats.org/officeDocument/2006/relationships" id="257" r:id="Rf3893f4046074acd"/>
    <p:sldId xmlns:r="http://schemas.openxmlformats.org/officeDocument/2006/relationships" id="258" r:id="R76dfa1e0141546b8"/>
    <p:sldId xmlns:r="http://schemas.openxmlformats.org/officeDocument/2006/relationships" id="259" r:id="R85957614c40b4dad"/>
    <p:sldId xmlns:r="http://schemas.openxmlformats.org/officeDocument/2006/relationships" id="260" r:id="R8c7a7b24648d426b"/>
    <p:sldId xmlns:r="http://schemas.openxmlformats.org/officeDocument/2006/relationships" id="261" r:id="R6ed06d84769f4cef"/>
    <p:sldId xmlns:r="http://schemas.openxmlformats.org/officeDocument/2006/relationships" id="262" r:id="Raf1679b9e8204531"/>
    <p:sldId xmlns:r="http://schemas.openxmlformats.org/officeDocument/2006/relationships" id="263" r:id="R32b5d3c865664fa8"/>
    <p:sldId xmlns:r="http://schemas.openxmlformats.org/officeDocument/2006/relationships" id="264" r:id="R549a3fc8f7a64410"/>
    <p:sldId xmlns:r="http://schemas.openxmlformats.org/officeDocument/2006/relationships" id="265" r:id="R76290ce051134905"/>
    <p:sldId xmlns:r="http://schemas.openxmlformats.org/officeDocument/2006/relationships" id="266" r:id="R10b2f80ed27f490b"/>
    <p:sldId xmlns:r="http://schemas.openxmlformats.org/officeDocument/2006/relationships" id="267" r:id="Rb66247edd1524049"/>
    <p:sldId xmlns:r="http://schemas.openxmlformats.org/officeDocument/2006/relationships" id="268" r:id="R9f950b931366471d"/>
    <p:sldId xmlns:r="http://schemas.openxmlformats.org/officeDocument/2006/relationships" id="269" r:id="R648be30bfed2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74d8e2dd14366" /><Relationship Type="http://schemas.openxmlformats.org/officeDocument/2006/relationships/slideMaster" Target="/ppt/slideMasters/slideMaster1.xml" Id="R405fed340a51417a" /><Relationship Type="http://schemas.openxmlformats.org/officeDocument/2006/relationships/notesMaster" Target="/ppt/notesMasters/notesMaster1.xml" Id="Rc6021ba234b4496d" /><Relationship Type="http://schemas.openxmlformats.org/officeDocument/2006/relationships/presProps" Target="/ppt/presProps.xml" Id="R162dac52ad684daa" /><Relationship Type="http://schemas.openxmlformats.org/officeDocument/2006/relationships/tableStyles" Target="/ppt/tableStyles.xml" Id="R5f8d92710c1441e8" /><Relationship Type="http://schemas.openxmlformats.org/officeDocument/2006/relationships/slide" Target="/ppt/slides/slide1.xml" Id="R9cabe42562ce4404" /><Relationship Type="http://schemas.openxmlformats.org/officeDocument/2006/relationships/slide" Target="/ppt/slides/slide2.xml" Id="Rf3893f4046074acd" /><Relationship Type="http://schemas.openxmlformats.org/officeDocument/2006/relationships/slide" Target="/ppt/slides/slide3.xml" Id="R76dfa1e0141546b8" /><Relationship Type="http://schemas.openxmlformats.org/officeDocument/2006/relationships/slide" Target="/ppt/slides/slide4.xml" Id="R85957614c40b4dad" /><Relationship Type="http://schemas.openxmlformats.org/officeDocument/2006/relationships/slide" Target="/ppt/slides/slide5.xml" Id="R8c7a7b24648d426b" /><Relationship Type="http://schemas.openxmlformats.org/officeDocument/2006/relationships/slide" Target="/ppt/slides/slide6.xml" Id="R6ed06d84769f4cef" /><Relationship Type="http://schemas.openxmlformats.org/officeDocument/2006/relationships/slide" Target="/ppt/slides/slide7.xml" Id="Raf1679b9e8204531" /><Relationship Type="http://schemas.openxmlformats.org/officeDocument/2006/relationships/slide" Target="/ppt/slides/slide8.xml" Id="R32b5d3c865664fa8" /><Relationship Type="http://schemas.openxmlformats.org/officeDocument/2006/relationships/slide" Target="/ppt/slides/slide9.xml" Id="R549a3fc8f7a64410" /><Relationship Type="http://schemas.openxmlformats.org/officeDocument/2006/relationships/slide" Target="/ppt/slides/slide10.xml" Id="R76290ce051134905" /><Relationship Type="http://schemas.openxmlformats.org/officeDocument/2006/relationships/slide" Target="/ppt/slides/slide11.xml" Id="R10b2f80ed27f490b" /><Relationship Type="http://schemas.openxmlformats.org/officeDocument/2006/relationships/slide" Target="/ppt/slides/slide12.xml" Id="Rb66247edd1524049" /><Relationship Type="http://schemas.openxmlformats.org/officeDocument/2006/relationships/slide" Target="/ppt/slides/slide13.xml" Id="R9f950b931366471d" /><Relationship Type="http://schemas.openxmlformats.org/officeDocument/2006/relationships/slide" Target="/ppt/slides/slide14.xml" Id="R648be30bfed2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665e0dc59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d5e025bf14f8b" /><Relationship Type="http://schemas.openxmlformats.org/officeDocument/2006/relationships/notesMaster" Target="/ppt/notesMasters/notesMaster1.xml" Id="R7b0868e2671a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d12d25ff314a33" /><Relationship Type="http://schemas.openxmlformats.org/officeDocument/2006/relationships/notesMaster" Target="/ppt/notesMasters/notesMaster1.xml" Id="R0dfad420b0d5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b5f4b9cb1e4a76" /><Relationship Type="http://schemas.openxmlformats.org/officeDocument/2006/relationships/notesMaster" Target="/ppt/notesMasters/notesMaster1.xml" Id="R95aaf2dd447d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29c016b3c4dbe" /><Relationship Type="http://schemas.openxmlformats.org/officeDocument/2006/relationships/notesMaster" Target="/ppt/notesMasters/notesMaster1.xml" Id="R7de186378b13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a5459dd5e499c" /><Relationship Type="http://schemas.openxmlformats.org/officeDocument/2006/relationships/notesMaster" Target="/ppt/notesMasters/notesMaster1.xml" Id="R53671f256573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c7a62d381a4ea9" /><Relationship Type="http://schemas.openxmlformats.org/officeDocument/2006/relationships/notesMaster" Target="/ppt/notesMasters/notesMaster1.xml" Id="Rb085b1de5e09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009ba56224169" /><Relationship Type="http://schemas.openxmlformats.org/officeDocument/2006/relationships/notesMaster" Target="/ppt/notesMasters/notesMaster1.xml" Id="R27ad371e48f347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786d2082ee4b09" /><Relationship Type="http://schemas.openxmlformats.org/officeDocument/2006/relationships/notesMaster" Target="/ppt/notesMasters/notesMaster1.xml" Id="R7ea347b0a022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52a4e377e4d94" /><Relationship Type="http://schemas.openxmlformats.org/officeDocument/2006/relationships/notesMaster" Target="/ppt/notesMasters/notesMaster1.xml" Id="Rb297e6d01058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51d82366f943f4" /><Relationship Type="http://schemas.openxmlformats.org/officeDocument/2006/relationships/notesMaster" Target="/ppt/notesMasters/notesMaster1.xml" Id="Rcf2ef7ab2b09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fb82b118744b39" /><Relationship Type="http://schemas.openxmlformats.org/officeDocument/2006/relationships/notesMaster" Target="/ppt/notesMasters/notesMaster1.xml" Id="Rf04cf1a99b9e41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175c711e8a45c6" /><Relationship Type="http://schemas.openxmlformats.org/officeDocument/2006/relationships/notesMaster" Target="/ppt/notesMasters/notesMaster1.xml" Id="Rebde8103b0f247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60aa15ffcc4906" /><Relationship Type="http://schemas.openxmlformats.org/officeDocument/2006/relationships/notesMaster" Target="/ppt/notesMasters/notesMaster1.xml" Id="Ra639febd63fc44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4a10c455ce4232" /><Relationship Type="http://schemas.openxmlformats.org/officeDocument/2006/relationships/notesMaster" Target="/ppt/notesMasters/notesMaster1.xml" Id="R5da181fb8e4a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esboço do Encarregado de Dados, README.md da PoC e documentos SAD.</a:t>
            </a:r>
          </a:p>
          <a:p xmlns:a="http://schemas.openxmlformats.org/drawingml/2006/main">
            <a:r>
              <a:t>Responsabilidades registradas pelo Encarregado: SENAC no treinamento; Secretaria de Planejamento da Cartilha até a PoC ampliada; Secretaria de T.I. na experiência prática, levantamento de dados, piloto e operação.</a:t>
            </a:r>
          </a:p>
          <a:p xmlns:a="http://schemas.openxmlformats.org/drawingml/2006/main">
            <a:r>
              <a:t>A seta de mão dupla registra a retroalimentação controlada: dificuldades observadas em campo podem justificar pequenos ajustes no FORM 1, com análise de impacto e rastreabilidade.</a:t>
            </a:r>
          </a:p>
          <a:p xmlns:a="http://schemas.openxmlformats.org/drawingml/2006/main">
            <a:r>
              <a:t>A apresentação à T.I. e a ata encerram formalmente o M1a. A PoC ampliada depende de decisão expressa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Etapa sob responsabilidade do SENAC. A Secretaria de Planejamento utilizou o aprendizado como base para a Cartilha municipal.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Cartilha e os quatro FORMs constituem a referência funcional principal. Inventários anteriores servem apenas como apoio.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SADs e o README consolidam a arquitetura da solução e as decisões já tomadas pelo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PoC nuclear testa o desenho central. Ela não equivale à autorização automática da PoC ampliada.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trilha começou junto com a Cartilha. A retroalimentação deve ser controlada, registrada e compatível com o escopo aprovado.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gate formal da ampliação. A decisão deve ser expressa e registrada.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Dependências já documentadas incluem o contrato integral do FORM 1, o envelope de ingestão e a decisão de ampliação.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piloto e a operação pertencem à Secretaria de T.I., com transferência técnica e apoio funcional do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funcional: Cartilha LGPD e README.md.</a:t>
            </a:r>
          </a:p>
          <a:p xmlns:a="http://schemas.openxmlformats.org/drawingml/2006/main">
            <a:r>
              <a:t>Rótulos consolidados: FORM 1 Realidade; FORM 2 Legitimidade; FORM 3 Risco; FORM 4 Ação e acompanhamento.</a:t>
            </a:r>
          </a:p>
          <a:p xmlns:a="http://schemas.openxmlformats.org/drawingml/2006/main">
            <a:r>
              <a:t>A PoC ampliada termina no FORM 1 integral. Os demais FORMs permanecem alinhados na arquitetura e reservados para etapa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estrutura vigente do diretório Solution Architecture Document, documentos SAD e README.md.</a:t>
            </a:r>
          </a:p>
          <a:p xmlns:a="http://schemas.openxmlformats.org/drawingml/2006/main">
            <a:r>
              <a:t>O SAD 07 permanece reservado para Relatórios e Dashboards e ainda não foi elaborado.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adendo da rodada complementar da PoC nuclear M1a, execução M1A-20261024-002, de 24/10/2026.</a:t>
            </a:r>
          </a:p>
          <a:p xmlns:a="http://schemas.openxmlformats.org/drawingml/2006/main">
            <a:r>
              <a:t>Código testado: commit cada2fc5201225bd25c1a5e5163d0e421d85bd52.</a:t>
            </a:r>
          </a:p>
          <a:p xmlns:a="http://schemas.openxmlformats.org/drawingml/2006/main">
            <a:r>
              <a:t>Suíte: 193 testes, zero falhas, zero erros e zero ignorados. O ensaio pesado de volume permanece vinculado à rodada formal M1A-20261022-001: 1.000 Registros, 50.000 eventos, 1.000 cadeias verificadas e 25 reconstruções coincidentes.</a:t>
            </a:r>
          </a:p>
          <a:p xmlns:a="http://schemas.openxmlformats.org/drawingml/2006/main">
            <a:r>
              <a:t>Todos os dados usados foram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fbca61add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8df75f45844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5f86610594f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72d4a908244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a54f6d85f41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754104e7a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367BE9-58E6-4129-9733-148C93FEA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754D86-1D5D-41A2-99E7-5E4BAD8AE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6AA0CC-8132-4FCD-A728-B1802DA1C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8EB41-0804-457A-B8A2-14058F074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E22FE1-5718-481B-8549-5AE9DA57C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DE2CE-907A-4391-9FDE-DADB029F1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C2835-7CAE-4F53-ACA0-286C1FB68D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FDE07A-32EE-4D90-81CB-582281C31C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D231AC-6D30-4E3E-AEE0-69478DF69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0EDA63-CDC5-4B07-9279-7FEC0A632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c505fe42042a6" /><Relationship Type="http://schemas.openxmlformats.org/officeDocument/2006/relationships/slideLayout" Target="/ppt/slideLayouts/slideLayout1.xml" Id="Rba7c45362926439a" /><Relationship Type="http://schemas.openxmlformats.org/officeDocument/2006/relationships/slideLayout" Target="/ppt/slideLayouts/slideLayout2.xml" Id="R2634bfa12dc346b2" /><Relationship Type="http://schemas.openxmlformats.org/officeDocument/2006/relationships/slideLayout" Target="/ppt/slideLayouts/slideLayout3.xml" Id="Rd50b0b76a5aa43a3" /><Relationship Type="http://schemas.openxmlformats.org/officeDocument/2006/relationships/slideLayout" Target="/ppt/slideLayouts/slideLayout4.xml" Id="R9eb826ad35a94325" /><Relationship Type="http://schemas.openxmlformats.org/officeDocument/2006/relationships/slideLayout" Target="/ppt/slideLayouts/slideLayout5.xml" Id="Rded53dc255ce4269" /><Relationship Type="http://schemas.openxmlformats.org/officeDocument/2006/relationships/slideLayout" Target="/ppt/slideLayouts/slideLayout6.xml" Id="Rb67c39b67f4b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c45362926439a"/>
    <p:sldLayoutId xmlns:r="http://schemas.openxmlformats.org/officeDocument/2006/relationships" id="2147483650" r:id="R2634bfa12dc346b2"/>
    <p:sldLayoutId xmlns:r="http://schemas.openxmlformats.org/officeDocument/2006/relationships" id="2147483651" r:id="Rd50b0b76a5aa43a3"/>
    <p:sldLayoutId xmlns:r="http://schemas.openxmlformats.org/officeDocument/2006/relationships" id="2147483652" r:id="R9eb826ad35a94325"/>
    <p:sldLayoutId xmlns:r="http://schemas.openxmlformats.org/officeDocument/2006/relationships" id="2147483653" r:id="Rded53dc255ce4269"/>
    <p:sldLayoutId xmlns:r="http://schemas.openxmlformats.org/officeDocument/2006/relationships" id="2147483654" r:id="Rb67c39b67f4b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2255dbe46486d" /><Relationship Type="http://schemas.openxmlformats.org/officeDocument/2006/relationships/image" Target="/ppt/media/image.png" Id="Rdd5ec9a8ba0a447c" /><Relationship Type="http://schemas.openxmlformats.org/officeDocument/2006/relationships/notesSlide" Target="/ppt/notesSlides/notesSlide1.xml" Id="Ra9aaa38b0f59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83744c9574e4e" /><Relationship Type="http://schemas.openxmlformats.org/officeDocument/2006/relationships/image" Target="/ppt/media/image2.png" Id="R74384b505c5847cc" /><Relationship Type="http://schemas.openxmlformats.org/officeDocument/2006/relationships/notesSlide" Target="/ppt/notesSlides/notesSlide2.xml" Id="R9361e6ba6573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e1607f31745e0" /><Relationship Type="http://schemas.openxmlformats.org/officeDocument/2006/relationships/image" Target="/ppt/media/image3.png" Id="R2cb8fae88cb04ca0" /><Relationship Type="http://schemas.openxmlformats.org/officeDocument/2006/relationships/notesSlide" Target="/ppt/notesSlides/notesSlide3.xml" Id="R1a0eab86ba98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e274496ee483a" /><Relationship Type="http://schemas.openxmlformats.org/officeDocument/2006/relationships/image" Target="/ppt/media/image4.png" Id="R1a04fca57c3344d0" /><Relationship Type="http://schemas.openxmlformats.org/officeDocument/2006/relationships/notesSlide" Target="/ppt/notesSlides/notesSlide4.xml" Id="Ra7fc8ef12d0148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14683769249b8" /><Relationship Type="http://schemas.openxmlformats.org/officeDocument/2006/relationships/image" Target="/ppt/media/image5.png" Id="Rf8240acc84844642" /><Relationship Type="http://schemas.openxmlformats.org/officeDocument/2006/relationships/notesSlide" Target="/ppt/notesSlides/notesSlide5.xml" Id="R3d677146d821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121151c934437" /><Relationship Type="http://schemas.openxmlformats.org/officeDocument/2006/relationships/image" Target="/ppt/media/image6.png" Id="Rae6e32d1246c4ed0" /><Relationship Type="http://schemas.openxmlformats.org/officeDocument/2006/relationships/notesSlide" Target="/ppt/notesSlides/notesSlide6.xml" Id="R3b712b0ec7ac48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5dd95f38540eb" /><Relationship Type="http://schemas.openxmlformats.org/officeDocument/2006/relationships/image" Target="/ppt/media/image7.png" Id="R92fbf4f374934639" /><Relationship Type="http://schemas.openxmlformats.org/officeDocument/2006/relationships/notesSlide" Target="/ppt/notesSlides/notesSlide7.xml" Id="Ra20bb5ded1d8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95fa0653d446a" /><Relationship Type="http://schemas.openxmlformats.org/officeDocument/2006/relationships/image" Target="/ppt/media/image8.png" Id="R59ca25e00e7c4ca4" /><Relationship Type="http://schemas.openxmlformats.org/officeDocument/2006/relationships/notesSlide" Target="/ppt/notesSlides/notesSlide8.xml" Id="R898514e0bf5447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2606e63444825" /><Relationship Type="http://schemas.openxmlformats.org/officeDocument/2006/relationships/image" Target="/ppt/media/image9.png" Id="Rb099d2972cf1419f" /><Relationship Type="http://schemas.openxmlformats.org/officeDocument/2006/relationships/notesSlide" Target="/ppt/notesSlides/notesSlide9.xml" Id="R6ac72a3ab68644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27cfd19594c9a" /><Relationship Type="http://schemas.openxmlformats.org/officeDocument/2006/relationships/image" Target="/ppt/media/image10.png" Id="R6873b2d8f9f74ef3" /><Relationship Type="http://schemas.openxmlformats.org/officeDocument/2006/relationships/notesSlide" Target="/ppt/notesSlides/notesSlide10.xml" Id="Rfaf5107d1b13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03c22edab4b54" /><Relationship Type="http://schemas.openxmlformats.org/officeDocument/2006/relationships/image" Target="/ppt/media/image11.png" Id="R58b1b119cd0643ed" /><Relationship Type="http://schemas.openxmlformats.org/officeDocument/2006/relationships/notesSlide" Target="/ppt/notesSlides/notesSlide11.xml" Id="R6c189f3948aa4a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0043877c44efb" /><Relationship Type="http://schemas.openxmlformats.org/officeDocument/2006/relationships/image" Target="/ppt/media/image12.png" Id="Ra16fd50631614aac" /><Relationship Type="http://schemas.openxmlformats.org/officeDocument/2006/relationships/notesSlide" Target="/ppt/notesSlides/notesSlide12.xml" Id="Rfd076093512940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e30990b824beb" /><Relationship Type="http://schemas.openxmlformats.org/officeDocument/2006/relationships/image" Target="/ppt/media/image13.png" Id="R95de40f0be22469b" /><Relationship Type="http://schemas.openxmlformats.org/officeDocument/2006/relationships/notesSlide" Target="/ppt/notesSlides/notesSlide13.xml" Id="R67daf614815547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0743d01f2441a" /><Relationship Type="http://schemas.openxmlformats.org/officeDocument/2006/relationships/image" Target="/ppt/media/image14.png" Id="R101bec71731a4d64" /><Relationship Type="http://schemas.openxmlformats.org/officeDocument/2006/relationships/notesSlide" Target="/ppt/notesSlides/notesSlide14.xml" Id="R6d8d6a3f320d4f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5B53F0-5C92-4932-B377-F5AC5319C45D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48577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49AE75-548F-4B34-9167-E494E1B9CC2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39140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17FB96-7164-442A-A563-16CCE7131816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6197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CA5A87-6011-48E1-8B14-6889D10F294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9433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C0F06-5F5E-45B9-83B4-467D7C2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4263"/>
                </a:solidFill>
              </a:defRPr>
            </a:defPPr>
            <a:lvl1pPr algn="l">
              <a:buNone/>
              <a:defRPr sz="2550" b="1">
                <a:solidFill>
                  <a:srgbClr val="0B4263"/>
                </a:solidFill>
              </a:defRPr>
            </a:lvl1pPr>
            <a:lvl2pPr algn="l">
              <a:buNone/>
              <a:defRPr sz="2550" b="1">
                <a:solidFill>
                  <a:srgbClr val="0B4263"/>
                </a:solidFill>
              </a:defRPr>
            </a:lvl2pPr>
            <a:lvl3pPr algn="l">
              <a:buNone/>
              <a:defRPr sz="2550" b="1">
                <a:solidFill>
                  <a:srgbClr val="0B4263"/>
                </a:solidFill>
              </a:defRPr>
            </a:lvl3pPr>
            <a:lvl4pPr algn="l">
              <a:buNone/>
              <a:defRPr sz="2550" b="1">
                <a:solidFill>
                  <a:srgbClr val="0B4263"/>
                </a:solidFill>
              </a:defRPr>
            </a:lvl4pPr>
            <a:lvl5pPr algn="l">
              <a:buNone/>
              <a:defRPr sz="2550" b="1">
                <a:solidFill>
                  <a:srgbClr val="0B4263"/>
                </a:solidFill>
              </a:defRPr>
            </a:lvl5pPr>
            <a:lvl6pPr algn="l">
              <a:buNone/>
              <a:defRPr sz="2550" b="1">
                <a:solidFill>
                  <a:srgbClr val="0B4263"/>
                </a:solidFill>
              </a:defRPr>
            </a:lvl6pPr>
            <a:lvl7pPr algn="l">
              <a:buNone/>
              <a:defRPr sz="2550" b="1">
                <a:solidFill>
                  <a:srgbClr val="0B4263"/>
                </a:solidFill>
              </a:defRPr>
            </a:lvl7pPr>
            <a:lvl8pPr algn="l">
              <a:buNone/>
              <a:defRPr sz="2550" b="1">
                <a:solidFill>
                  <a:srgbClr val="0B4263"/>
                </a:solidFill>
              </a:defRPr>
            </a:lvl8pPr>
            <a:lvl9pPr algn="l">
              <a:buNone/>
              <a:defRPr sz="25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4263"/>
                </a:solidFill>
              </a:defRPr>
            </a:pPr>
            <a:r>
              <a:rPr sz="2550" b="1">
                <a:solidFill>
                  <a:srgbClr val="0B4263"/>
                </a:solidFill>
              </a:rPr>
              <a:t>Evolução e responsabilidades institucionais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DDB5-9686-4C9A-84C2-69533E3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96B78"/>
                </a:solidFill>
              </a:defRPr>
            </a:defPPr>
            <a:lvl1pPr algn="l">
              <a:buNone/>
              <a:defRPr sz="1350" b="0">
                <a:solidFill>
                  <a:srgbClr val="596B78"/>
                </a:solidFill>
              </a:defRPr>
            </a:lvl1pPr>
            <a:lvl2pPr algn="l">
              <a:buNone/>
              <a:defRPr sz="1350" b="0">
                <a:solidFill>
                  <a:srgbClr val="596B78"/>
                </a:solidFill>
              </a:defRPr>
            </a:lvl2pPr>
            <a:lvl3pPr algn="l">
              <a:buNone/>
              <a:defRPr sz="1350" b="0">
                <a:solidFill>
                  <a:srgbClr val="596B78"/>
                </a:solidFill>
              </a:defRPr>
            </a:lvl3pPr>
            <a:lvl4pPr algn="l">
              <a:buNone/>
              <a:defRPr sz="1350" b="0">
                <a:solidFill>
                  <a:srgbClr val="596B78"/>
                </a:solidFill>
              </a:defRPr>
            </a:lvl4pPr>
            <a:lvl5pPr algn="l">
              <a:buNone/>
              <a:defRPr sz="1350" b="0">
                <a:solidFill>
                  <a:srgbClr val="596B78"/>
                </a:solidFill>
              </a:defRPr>
            </a:lvl5pPr>
            <a:lvl6pPr algn="l">
              <a:buNone/>
              <a:defRPr sz="1350" b="0">
                <a:solidFill>
                  <a:srgbClr val="596B78"/>
                </a:solidFill>
              </a:defRPr>
            </a:lvl6pPr>
            <a:lvl7pPr algn="l">
              <a:buNone/>
              <a:defRPr sz="1350" b="0">
                <a:solidFill>
                  <a:srgbClr val="596B78"/>
                </a:solidFill>
              </a:defRPr>
            </a:lvl7pPr>
            <a:lvl8pPr algn="l">
              <a:buNone/>
              <a:defRPr sz="1350" b="0">
                <a:solidFill>
                  <a:srgbClr val="596B78"/>
                </a:solidFill>
              </a:defRPr>
            </a:lvl8pPr>
            <a:lvl9pPr algn="l">
              <a:buNone/>
              <a:defRPr sz="13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96B78"/>
                </a:solidFill>
              </a:defRPr>
            </a:pPr>
            <a:r>
              <a:rPr sz="1350" b="0">
                <a:solidFill>
                  <a:srgbClr val="596B78"/>
                </a:solidFill>
              </a:rPr>
              <a:t>Sistema Municipal de Governança LGPD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30F69-238C-402A-9A6F-85E14DB04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ec9a8ba0a447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77C1-9690-42D6-BFD4-44DABC0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7AA4-8182-4A0A-9DCC-110E908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96B78"/>
                </a:solidFill>
              </a:defRPr>
            </a:defPPr>
            <a:lvl1pPr algn="l">
              <a:buNone/>
              <a:defRPr sz="900" b="1">
                <a:solidFill>
                  <a:srgbClr val="596B78"/>
                </a:solidFill>
              </a:defRPr>
            </a:lvl1pPr>
            <a:lvl2pPr algn="l">
              <a:buNone/>
              <a:defRPr sz="900" b="1">
                <a:solidFill>
                  <a:srgbClr val="596B78"/>
                </a:solidFill>
              </a:defRPr>
            </a:lvl2pPr>
            <a:lvl3pPr algn="l">
              <a:buNone/>
              <a:defRPr sz="900" b="1">
                <a:solidFill>
                  <a:srgbClr val="596B78"/>
                </a:solidFill>
              </a:defRPr>
            </a:lvl3pPr>
            <a:lvl4pPr algn="l">
              <a:buNone/>
              <a:defRPr sz="900" b="1">
                <a:solidFill>
                  <a:srgbClr val="596B78"/>
                </a:solidFill>
              </a:defRPr>
            </a:lvl4pPr>
            <a:lvl5pPr algn="l">
              <a:buNone/>
              <a:defRPr sz="900" b="1">
                <a:solidFill>
                  <a:srgbClr val="596B78"/>
                </a:solidFill>
              </a:defRPr>
            </a:lvl5pPr>
            <a:lvl6pPr algn="l">
              <a:buNone/>
              <a:defRPr sz="900" b="1">
                <a:solidFill>
                  <a:srgbClr val="596B78"/>
                </a:solidFill>
              </a:defRPr>
            </a:lvl6pPr>
            <a:lvl7pPr algn="l">
              <a:buNone/>
              <a:defRPr sz="900" b="1">
                <a:solidFill>
                  <a:srgbClr val="596B78"/>
                </a:solidFill>
              </a:defRPr>
            </a:lvl7pPr>
            <a:lvl8pPr algn="l">
              <a:buNone/>
              <a:defRPr sz="900" b="1">
                <a:solidFill>
                  <a:srgbClr val="596B78"/>
                </a:solidFill>
              </a:defRPr>
            </a:lvl8pPr>
            <a:lvl9pPr algn="l">
              <a:buNone/>
              <a:defRPr sz="900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596B78"/>
                </a:solidFill>
              </a:defRPr>
            </a:pPr>
            <a:r>
              <a:rPr sz="900" b="1">
                <a:solidFill>
                  <a:srgbClr val="596B78"/>
                </a:solidFill>
              </a:rPr>
              <a:t>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9230B-5F5A-4FB6-A9B3-9B208B9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906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F026F-4900-488B-8FF9-D70EDC6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33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80A4-7432-46EF-BAE9-5A88E242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28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1">
                <a:solidFill>
                  <a:srgbClr val="B36A00"/>
                </a:solidFill>
              </a:defRPr>
            </a:defPPr>
            <a:lvl1pPr algn="l">
              <a:buNone/>
              <a:defRPr sz="863" b="1">
                <a:solidFill>
                  <a:srgbClr val="B36A00"/>
                </a:solidFill>
              </a:defRPr>
            </a:lvl1pPr>
            <a:lvl2pPr algn="l">
              <a:buNone/>
              <a:defRPr sz="863" b="1">
                <a:solidFill>
                  <a:srgbClr val="B36A00"/>
                </a:solidFill>
              </a:defRPr>
            </a:lvl2pPr>
            <a:lvl3pPr algn="l">
              <a:buNone/>
              <a:defRPr sz="863" b="1">
                <a:solidFill>
                  <a:srgbClr val="B36A00"/>
                </a:solidFill>
              </a:defRPr>
            </a:lvl3pPr>
            <a:lvl4pPr algn="l">
              <a:buNone/>
              <a:defRPr sz="863" b="1">
                <a:solidFill>
                  <a:srgbClr val="B36A00"/>
                </a:solidFill>
              </a:defRPr>
            </a:lvl4pPr>
            <a:lvl5pPr algn="l">
              <a:buNone/>
              <a:defRPr sz="863" b="1">
                <a:solidFill>
                  <a:srgbClr val="B36A00"/>
                </a:solidFill>
              </a:defRPr>
            </a:lvl5pPr>
            <a:lvl6pPr algn="l">
              <a:buNone/>
              <a:defRPr sz="863" b="1">
                <a:solidFill>
                  <a:srgbClr val="B36A00"/>
                </a:solidFill>
              </a:defRPr>
            </a:lvl6pPr>
            <a:lvl7pPr algn="l">
              <a:buNone/>
              <a:defRPr sz="863" b="1">
                <a:solidFill>
                  <a:srgbClr val="B36A00"/>
                </a:solidFill>
              </a:defRPr>
            </a:lvl7pPr>
            <a:lvl8pPr algn="l">
              <a:buNone/>
              <a:defRPr sz="863" b="1">
                <a:solidFill>
                  <a:srgbClr val="B36A00"/>
                </a:solidFill>
              </a:defRPr>
            </a:lvl8pPr>
            <a:lvl9pPr algn="l">
              <a:buNone/>
              <a:defRPr sz="8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863" b="1">
                <a:solidFill>
                  <a:srgbClr val="B36A00"/>
                </a:solidFill>
              </a:defRPr>
            </a:pPr>
            <a:r>
              <a:rPr sz="863" b="1">
                <a:solidFill>
                  <a:srgbClr val="B36A00"/>
                </a:solidFill>
              </a:rPr>
              <a:t>INÍCIO CONJUNTO</a:t>
            </a:r>
          </a:p>
        </p:txBody>
      </p:sp>
      <p:sp>
        <p:nvSpPr>
          <p:cNvPr id="9" name="marcador-inicio-conjunto">
            <a:extLst xmlns:a="http://schemas.openxmlformats.org/drawingml/2006/main">
              <a:ext uri="{FF2B5EF4-FFF2-40B4-BE49-F238E27FC236}">
                <a16:creationId xmlns:a16="http://schemas.microsoft.com/office/drawing/2014/main" id="{6BE5F535-8054-45B5-849E-D6E0336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36A00"/>
            </a:solidFill>
            <a:prstDash val="dash"/>
          </a:ln>
        </p:spPr>
      </p:sp>
      <p:sp>
        <p:nvSpPr>
          <p:cNvPr id="10" name="faixa-senac">
            <a:extLst xmlns:a="http://schemas.openxmlformats.org/drawingml/2006/main">
              <a:ext uri="{FF2B5EF4-FFF2-40B4-BE49-F238E27FC236}">
                <a16:creationId xmlns:a16="http://schemas.microsoft.com/office/drawing/2014/main" id="{D071FD67-9B7A-46E5-9F03-B7CE21F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9050">
            <a:solidFill>
              <a:srgbClr val="0B6E9F"/>
            </a:solidFill>
            <a:prstDash val="dash"/>
          </a:ln>
        </p:spPr>
      </p:sp>
      <p:sp>
        <p:nvSpPr>
          <p:cNvPr id="11" name="faixa-planejamento">
            <a:extLst xmlns:a="http://schemas.openxmlformats.org/drawingml/2006/main">
              <a:ext uri="{FF2B5EF4-FFF2-40B4-BE49-F238E27FC236}">
                <a16:creationId xmlns:a16="http://schemas.microsoft.com/office/drawing/2014/main" id="{E7254FF8-2210-4E0C-ADE4-001ACAE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9050">
            <a:solidFill>
              <a:srgbClr val="087A45"/>
            </a:solidFill>
            <a:prstDash val="dash"/>
          </a:ln>
        </p:spPr>
      </p:sp>
      <p:sp>
        <p:nvSpPr>
          <p:cNvPr id="12" name="faixa-ti">
            <a:extLst xmlns:a="http://schemas.openxmlformats.org/drawingml/2006/main">
              <a:ext uri="{FF2B5EF4-FFF2-40B4-BE49-F238E27FC236}">
                <a16:creationId xmlns:a16="http://schemas.microsoft.com/office/drawing/2014/main" id="{E1E42E9B-A39D-4BE1-8453-0316F4E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0972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0B4263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8A7C-D9FB-448F-839D-2985DAB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62576-176A-4872-A811-279CB29B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Capacitação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6451E-4C7D-447E-B91A-AC849D2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</a:defRPr>
            </a:defPPr>
            <a:lvl1pPr algn="l">
              <a:buNone/>
              <a:defRPr sz="1200" b="1">
                <a:solidFill>
                  <a:srgbClr val="087A45"/>
                </a:solidFill>
              </a:defRPr>
            </a:lvl1pPr>
            <a:lvl2pPr algn="l">
              <a:buNone/>
              <a:defRPr sz="1200" b="1">
                <a:solidFill>
                  <a:srgbClr val="087A45"/>
                </a:solidFill>
              </a:defRPr>
            </a:lvl2pPr>
            <a:lvl3pPr algn="l">
              <a:buNone/>
              <a:defRPr sz="1200" b="1">
                <a:solidFill>
                  <a:srgbClr val="087A45"/>
                </a:solidFill>
              </a:defRPr>
            </a:lvl3pPr>
            <a:lvl4pPr algn="l">
              <a:buNone/>
              <a:defRPr sz="1200" b="1">
                <a:solidFill>
                  <a:srgbClr val="087A45"/>
                </a:solidFill>
              </a:defRPr>
            </a:lvl4pPr>
            <a:lvl5pPr algn="l">
              <a:buNone/>
              <a:defRPr sz="1200" b="1">
                <a:solidFill>
                  <a:srgbClr val="087A45"/>
                </a:solidFill>
              </a:defRPr>
            </a:lvl5pPr>
            <a:lvl6pPr algn="l">
              <a:buNone/>
              <a:defRPr sz="1200" b="1">
                <a:solidFill>
                  <a:srgbClr val="087A45"/>
                </a:solidFill>
              </a:defRPr>
            </a:lvl6pPr>
            <a:lvl7pPr algn="l">
              <a:buNone/>
              <a:defRPr sz="1200" b="1">
                <a:solidFill>
                  <a:srgbClr val="087A45"/>
                </a:solidFill>
              </a:defRPr>
            </a:lvl7pPr>
            <a:lvl8pPr algn="l">
              <a:buNone/>
              <a:defRPr sz="1200" b="1">
                <a:solidFill>
                  <a:srgbClr val="087A45"/>
                </a:solidFill>
              </a:defRPr>
            </a:lvl8pPr>
            <a:lvl9pPr algn="l">
              <a:buNone/>
              <a:defRPr sz="120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87A45"/>
                </a:solidFill>
              </a:defRPr>
            </a:pPr>
            <a:r>
              <a:rPr sz="120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A797A-3ED6-4451-889F-04C009D5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Desenho e construção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5E2AB-6645-44AF-B671-A6FE013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B4263"/>
                </a:solidFill>
              </a:defRPr>
            </a:defPPr>
            <a:lvl1pPr algn="l">
              <a:buNone/>
              <a:defRPr sz="1275" b="1">
                <a:solidFill>
                  <a:srgbClr val="0B4263"/>
                </a:solidFill>
              </a:defRPr>
            </a:lvl1pPr>
            <a:lvl2pPr algn="l">
              <a:buNone/>
              <a:defRPr sz="1275" b="1">
                <a:solidFill>
                  <a:srgbClr val="0B4263"/>
                </a:solidFill>
              </a:defRPr>
            </a:lvl2pPr>
            <a:lvl3pPr algn="l">
              <a:buNone/>
              <a:defRPr sz="1275" b="1">
                <a:solidFill>
                  <a:srgbClr val="0B4263"/>
                </a:solidFill>
              </a:defRPr>
            </a:lvl3pPr>
            <a:lvl4pPr algn="l">
              <a:buNone/>
              <a:defRPr sz="1275" b="1">
                <a:solidFill>
                  <a:srgbClr val="0B4263"/>
                </a:solidFill>
              </a:defRPr>
            </a:lvl4pPr>
            <a:lvl5pPr algn="l">
              <a:buNone/>
              <a:defRPr sz="1275" b="1">
                <a:solidFill>
                  <a:srgbClr val="0B4263"/>
                </a:solidFill>
              </a:defRPr>
            </a:lvl5pPr>
            <a:lvl6pPr algn="l">
              <a:buNone/>
              <a:defRPr sz="1275" b="1">
                <a:solidFill>
                  <a:srgbClr val="0B4263"/>
                </a:solidFill>
              </a:defRPr>
            </a:lvl6pPr>
            <a:lvl7pPr algn="l">
              <a:buNone/>
              <a:defRPr sz="1275" b="1">
                <a:solidFill>
                  <a:srgbClr val="0B4263"/>
                </a:solidFill>
              </a:defRPr>
            </a:lvl7pPr>
            <a:lvl8pPr algn="l">
              <a:buNone/>
              <a:defRPr sz="1275" b="1">
                <a:solidFill>
                  <a:srgbClr val="0B4263"/>
                </a:solidFill>
              </a:defRPr>
            </a:lvl8pPr>
            <a:lvl9pPr algn="l">
              <a:buNone/>
              <a:defRPr sz="12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0B4263"/>
                </a:solidFill>
              </a:defRPr>
            </a:pPr>
            <a:r>
              <a:rPr sz="1275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D9C9B-E25C-4B5F-BA69-F00F222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Prática, piloto e operação</a:t>
            </a:r>
          </a:p>
        </p:txBody>
      </p:sp>
      <p:sp>
        <p:nvSpPr>
          <p:cNvPr id="19" name="etapa-1">
            <a:extLst xmlns:a="http://schemas.openxmlformats.org/drawingml/2006/main">
              <a:ext uri="{FF2B5EF4-FFF2-40B4-BE49-F238E27FC236}">
                <a16:creationId xmlns:a16="http://schemas.microsoft.com/office/drawing/2014/main" id="{7C450BFC-E73D-4B18-BF76-E28017E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37F40-7B27-4838-B712-2D67A88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17ED8-1BD8-4F3B-BEB3-EFAE6C7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12037-0718-453D-8FF6-2CCE2C6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Capacitação inicial</a:t>
            </a:r>
          </a:p>
        </p:txBody>
      </p:sp>
      <p:sp>
        <p:nvSpPr>
          <p:cNvPr id="23" name="etapa-2">
            <a:extLst xmlns:a="http://schemas.openxmlformats.org/drawingml/2006/main">
              <a:ext uri="{FF2B5EF4-FFF2-40B4-BE49-F238E27FC236}">
                <a16:creationId xmlns:a16="http://schemas.microsoft.com/office/drawing/2014/main" id="{9B6940FF-8672-47F0-BD84-F6A2660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DD81-271E-4D93-845A-26BC0061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E8E07-33E1-4274-9071-7E50D2A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Cartilha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524D6-C611-43CF-8192-BD3675D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Desenho dos 4 FORMs</a:t>
            </a:r>
          </a:p>
        </p:txBody>
      </p:sp>
      <p:sp>
        <p:nvSpPr>
          <p:cNvPr id="27" name="etapa-2A">
            <a:extLst xmlns:a="http://schemas.openxmlformats.org/drawingml/2006/main">
              <a:ext uri="{FF2B5EF4-FFF2-40B4-BE49-F238E27FC236}">
                <a16:creationId xmlns:a16="http://schemas.microsoft.com/office/drawing/2014/main" id="{02CB250F-5613-4477-8C65-FC5A1B6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78C4B-8812-4E63-8104-E3E4DFC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FB53A-95D0-4DF2-86BB-47081D2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38EA7-9352-41A3-A96F-BFE3FDB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Arquitetura e documentação da solução</a:t>
            </a:r>
          </a:p>
        </p:txBody>
      </p:sp>
      <p:sp>
        <p:nvSpPr>
          <p:cNvPr id="31" name="etapa-3">
            <a:extLst xmlns:a="http://schemas.openxmlformats.org/drawingml/2006/main">
              <a:ext uri="{FF2B5EF4-FFF2-40B4-BE49-F238E27FC236}">
                <a16:creationId xmlns:a16="http://schemas.microsoft.com/office/drawing/2014/main" id="{55759AC5-4BED-4D82-AA81-A3E38A93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EC93B-9CC7-4A4F-AB5B-6C507D3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BF544-9ADC-4CDC-95AF-BDA8D08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nuclear M1a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C82E5-EAFD-424B-97F9-80CE079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066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Núcleo do fluxo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9 testes formais</a:t>
            </a:r>
          </a:p>
        </p:txBody>
      </p:sp>
      <p:sp>
        <p:nvSpPr>
          <p:cNvPr id="35" name="etapa-4">
            <a:extLst xmlns:a="http://schemas.openxmlformats.org/drawingml/2006/main">
              <a:ext uri="{FF2B5EF4-FFF2-40B4-BE49-F238E27FC236}">
                <a16:creationId xmlns:a16="http://schemas.microsoft.com/office/drawing/2014/main" id="{DC9D73FA-AF7D-436E-A41A-D925B4B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3F45A-C069-4AC1-9109-B995644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038188-315F-42BB-BB6C-802A7D5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ampliada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21358-D178-4598-816C-BF5ABCB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Após decisão expressa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FORM 1 real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Cenários difíceis</a:t>
            </a:r>
          </a:p>
        </p:txBody>
      </p:sp>
      <p:sp>
        <p:nvSpPr>
          <p:cNvPr id="39" name="etapa-5">
            <a:extLst xmlns:a="http://schemas.openxmlformats.org/drawingml/2006/main">
              <a:ext uri="{FF2B5EF4-FFF2-40B4-BE49-F238E27FC236}">
                <a16:creationId xmlns:a16="http://schemas.microsoft.com/office/drawing/2014/main" id="{90ED1CA8-387E-4705-912B-8EDF525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695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46602D-3335-450C-A061-D2AE4D9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118CA5-2945-4070-A43C-0FE78F6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636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7C170-A41F-4FE9-9CD2-87E7BBF6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636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Começa junto com a Cartilha e prossegue durante a construção das PoCs</a:t>
            </a:r>
          </a:p>
        </p:txBody>
      </p:sp>
      <p:sp>
        <p:nvSpPr>
          <p:cNvPr id="43" name="etapa-6">
            <a:extLst xmlns:a="http://schemas.openxmlformats.org/drawingml/2006/main">
              <a:ext uri="{FF2B5EF4-FFF2-40B4-BE49-F238E27FC236}">
                <a16:creationId xmlns:a16="http://schemas.microsoft.com/office/drawing/2014/main" id="{E0C6840B-CAB8-4584-AC41-09A5195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243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EB6957-4BE1-4B85-B803-8C6B2A8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3DE4F-E21C-42C0-B23E-4620CFB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3865DC-F0FC-4067-9445-C1E8261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05350"/>
            <a:ext cx="121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Após a PoC ampliada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Caso piloto e implantação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D0ACBB-7B95-4CC7-8385-FE195F1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E5EC45-EAF2-40F8-BAB1-CF85F29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3" name="seta-retroalimentacao-form1">
            <a:extLst xmlns:a="http://schemas.openxmlformats.org/drawingml/2006/main">
              <a:ext uri="{FF2B5EF4-FFF2-40B4-BE49-F238E27FC236}">
                <a16:creationId xmlns:a16="http://schemas.microsoft.com/office/drawing/2014/main" id="{CC5545F1-32F2-4628-A07B-E5ED1ABB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53400" y="411480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AEBD10-53EF-42EB-A7B2-629436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2025FE-079F-41C2-9674-9743733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MARCO ATUAL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5F891B-65F9-4C34-9132-6870E9E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3042"/>
                </a:solidFill>
              </a:defRPr>
            </a:defPPr>
            <a:lvl1pPr algn="l">
              <a:buNone/>
              <a:defRPr sz="1275" b="1">
                <a:solidFill>
                  <a:srgbClr val="173042"/>
                </a:solidFill>
              </a:defRPr>
            </a:lvl1pPr>
            <a:lvl2pPr algn="l">
              <a:buNone/>
              <a:defRPr sz="1275" b="1">
                <a:solidFill>
                  <a:srgbClr val="173042"/>
                </a:solidFill>
              </a:defRPr>
            </a:lvl2pPr>
            <a:lvl3pPr algn="l">
              <a:buNone/>
              <a:defRPr sz="1275" b="1">
                <a:solidFill>
                  <a:srgbClr val="173042"/>
                </a:solidFill>
              </a:defRPr>
            </a:lvl3pPr>
            <a:lvl4pPr algn="l">
              <a:buNone/>
              <a:defRPr sz="1275" b="1">
                <a:solidFill>
                  <a:srgbClr val="173042"/>
                </a:solidFill>
              </a:defRPr>
            </a:lvl4pPr>
            <a:lvl5pPr algn="l">
              <a:buNone/>
              <a:defRPr sz="1275" b="1">
                <a:solidFill>
                  <a:srgbClr val="173042"/>
                </a:solidFill>
              </a:defRPr>
            </a:lvl5pPr>
            <a:lvl6pPr algn="l">
              <a:buNone/>
              <a:defRPr sz="1275" b="1">
                <a:solidFill>
                  <a:srgbClr val="173042"/>
                </a:solidFill>
              </a:defRPr>
            </a:lvl6pPr>
            <a:lvl7pPr algn="l">
              <a:buNone/>
              <a:defRPr sz="1275" b="1">
                <a:solidFill>
                  <a:srgbClr val="173042"/>
                </a:solidFill>
              </a:defRPr>
            </a:lvl7pPr>
            <a:lvl8pPr algn="l">
              <a:buNone/>
              <a:defRPr sz="1275" b="1">
                <a:solidFill>
                  <a:srgbClr val="173042"/>
                </a:solidFill>
              </a:defRPr>
            </a:lvl8pPr>
            <a:lvl9pPr algn="l">
              <a:buNone/>
              <a:defRPr sz="12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Encerrar o M1a com evidências, apresentação à T.I. e ata. A PoC ampliada depende de decisão expressa.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907638-1F7E-422F-8C6B-0EC3E564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06087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FE12C-61F9-4535-B2CC-333A6BB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ABD8-8FE2-429F-8E99-CDBADD0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 base conceitual que iniciou o trabalho municipal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86EF3-D514-4817-B930-05FA283A2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84b505c5847c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6F425-FAB6-4B07-A118-06C264F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D744-0182-4D7A-BC8E-FD906AE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F1DEE-2A8B-46D8-A4B1-943D285C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E16EC-13BA-4813-92A7-E760892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9C34D-C795-4639-9D92-03A8DF4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Formação comum antes do desenho dos instrumentos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FB15-D4A1-4419-84E0-EE6F0B9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39C3F-5C55-4FC7-BF89-360A307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Capacitar a equipe municipal nos fundamentos da LGPD e criar uma linguagem comum para o mapeamento de dados pessoais.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9B812-221C-4F3F-9D8B-2112439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E3951-5463-428B-BE42-4F5C83E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C9D5F-5872-499A-9C04-C74BC09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Treinamento conduzido pelo SENAC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Conteúdo de referência usado pela equipe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Princípios, papéis e responsabilidades discutidos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600D6-E5DF-445A-9058-261D4277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EE9BA-4C88-496A-AD48-13F3805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0FA9E-83D5-49E6-A5DB-5D43776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conhecimento do treinamento foi traduzido para a Cartilha e para os quatro 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9390-3444-43B3-81BB-E9CE471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F094C-4E1B-431D-AB89-B3A4CD80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2/14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53576-628F-457B-B49B-CA3A4D9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30822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8851D-A5E1-4AB3-8FF9-FA260D6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Cartilha e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7A96A-7097-4598-9AF8-22AF8FB0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Orientação municipal para o levantamento estruturado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249A5-7286-45AD-9075-BB4309F69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8fae88cb04ca0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941E-7C24-4AE3-B86F-16EA09A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041A-E435-4B4D-B958-EA28C6A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D6F6-9287-4C20-A10A-D50C2B2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BE73C-FE70-4E6B-A5F3-DFCF5BA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C510-3BBF-4CE0-92FC-E2DFC971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conteúdo do treinamento virou orientação aplicável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458C-3ADB-4FC2-85B3-12BC0F2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C132-AA7C-418E-AF80-EDD2771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Organizar o preenchimento pelos servidores e registrar serviços, processos e atividades sem capturar dados pessoais de titulares.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23E04-82F8-4400-B21D-6C79CEF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48F9-DBE5-45B7-A152-2AF714B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BC9DB-F747-4551-A338-37F37FA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Cartilha municipal revisada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Quatro FORMs de levantamento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Definições de responsáveis, contexto, finalidade e categorias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E7FD-96E1-4AC8-8AF1-BB79BAE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E929E-CA0B-45B5-BB21-8A7D0A0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3582D-F770-42F1-8B11-998FA5E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Os instrumentos funcionais alimentaram a documentação de arquitetura e as decisões registradas nos SADs.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6802-FF68-4231-A9A1-BD99D69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A4360-B156-468E-B494-555591C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3/14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FC7D4-D98B-4BF8-ADE4-EE49BCE3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3195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DBDD-02FB-4056-9DF3-20A51FF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B2B6-4F56-4E91-9466-720589E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Arquitetura, decisões e procedimentos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04A44-0ACA-4878-A288-BC7C6CA14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4fca57c3344d0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D7717-6756-468F-BAB6-04F66C6F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4899E-6A15-44F2-84FE-3A6841B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B6A5-6AFD-45A7-ADE6-7ACAD61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00EE-2C71-401F-8291-6EFC4FC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E00E-32A1-4A77-9C19-F3FA720D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proposta funcional ganhou estrutura técnica e rastreabilidade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27FE5-BF99-498E-8648-1658E7F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159FF-50DF-44E7-8E8B-12081E2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Documentar escopo, requisitos, papéis, fluxo, dados, integrações, segurança, testes e decisões de arquitetura.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E9AAF-3D44-44B2-9F70-CAA962D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2D4C1-184F-4065-BA8E-5741EB7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9B9D6-4545-42CF-877F-DDB01F8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Pastas temáticas do SAD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README como narrativa central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Procedimentos e critérios de aceite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Decisões de arquitetura registradas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BCC91-32CD-4CF5-B8C9-6E869CA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2E2CA-E64C-4CA0-980B-C7049CA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83906-3726-422B-B0DC-9F2E492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documentação definiu o contrato técnico usado para construir e testar a PoC nuclear.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0C87B-CF5F-46E6-80FE-728F188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C561B-6DDC-46F6-9DD5-FE10D1D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4/14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2BD9B-56B3-446D-A552-AD02912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0356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ulo-repositorio">
            <a:extLst xmlns:a="http://schemas.openxmlformats.org/drawingml/2006/main">
              <a:ext uri="{FF2B5EF4-FFF2-40B4-BE49-F238E27FC236}">
                <a16:creationId xmlns:a16="http://schemas.microsoft.com/office/drawing/2014/main" id="{A03E68F8-B799-498A-B503-F020E13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Repositório disponível à T.I.</a:t>
            </a:r>
          </a:p>
        </p:txBody>
      </p:sp>
      <p:sp>
        <p:nvSpPr>
          <p:cNvPr id="2" name="subtitulo-repositorio">
            <a:extLst xmlns:a="http://schemas.openxmlformats.org/drawingml/2006/main">
              <a:ext uri="{FF2B5EF4-FFF2-40B4-BE49-F238E27FC236}">
                <a16:creationId xmlns:a16="http://schemas.microsoft.com/office/drawing/2014/main" id="{0F82B2EB-FCAC-40BF-AAE4-9513739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8"/>
                </a:solidFill>
                <a:latin typeface="Aptos"/>
                <a:ea typeface="Aptos"/>
                <a:cs typeface="Aptos"/>
              </a:rPr>
              <a:t>Onde localizar código, testes, documentação e instruções de execução no GitHub</a:t>
            </a:r>
          </a:p>
        </p:txBody>
      </p:sp>
      <p:sp>
        <p:nvSpPr>
          <p:cNvPr id="3" name="regua-verde">
            <a:extLst xmlns:a="http://schemas.openxmlformats.org/drawingml/2006/main">
              <a:ext uri="{FF2B5EF4-FFF2-40B4-BE49-F238E27FC236}">
                <a16:creationId xmlns:a16="http://schemas.microsoft.com/office/drawing/2014/main" id="{9A511D7E-6FDE-43CF-8C22-9366EC6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CEEA7-5617-4DFC-8CF2-32A8E714A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40acc84844642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raiz-titulo">
            <a:extLst xmlns:a="http://schemas.openxmlformats.org/drawingml/2006/main">
              <a:ext uri="{FF2B5EF4-FFF2-40B4-BE49-F238E27FC236}">
                <a16:creationId xmlns:a16="http://schemas.microsoft.com/office/drawing/2014/main" id="{70EF5124-A390-4736-94E1-DDF3141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E9F"/>
                </a:solidFill>
                <a:latin typeface="Aptos"/>
                <a:ea typeface="Aptos"/>
                <a:cs typeface="Aptos"/>
              </a:rPr>
              <a:t>RAIZ DO REPOSITÓRIO</a:t>
            </a:r>
          </a:p>
        </p:txBody>
      </p:sp>
      <p:sp>
        <p:nvSpPr>
          <p:cNvPr id="6" name="raiz-arvore">
            <a:extLst xmlns:a="http://schemas.openxmlformats.org/drawingml/2006/main">
              <a:ext uri="{FF2B5EF4-FFF2-40B4-BE49-F238E27FC236}">
                <a16:creationId xmlns:a16="http://schemas.microsoft.com/office/drawing/2014/main" id="{5CDC70E6-360C-4E73-A0E8-AAD1ABEC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048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governanca-lgpd-hortolandia/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README.md        visão e instruções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AGENTS.md        guardrails de IA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app/             domínio e interface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carga_ficticia/  massa sintética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demonstracoes/   percursos reproduzíveis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instalacao/      estruturas iniciais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migracoes/       evolução do banco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scripts/         ensaios auxiliares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testes/          regressão automatizada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└── docs/            documentação da PoC</a:t>
            </a:r>
          </a:p>
        </p:txBody>
      </p:sp>
      <p:sp>
        <p:nvSpPr>
          <p:cNvPr id="7" name="separador-colunas">
            <a:extLst xmlns:a="http://schemas.openxmlformats.org/drawingml/2006/main">
              <a:ext uri="{FF2B5EF4-FFF2-40B4-BE49-F238E27FC236}">
                <a16:creationId xmlns:a16="http://schemas.microsoft.com/office/drawing/2014/main" id="{98997F62-3951-4C7F-B807-6C4DDED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cs-titulo">
            <a:extLst xmlns:a="http://schemas.openxmlformats.org/drawingml/2006/main">
              <a:ext uri="{FF2B5EF4-FFF2-40B4-BE49-F238E27FC236}">
                <a16:creationId xmlns:a16="http://schemas.microsoft.com/office/drawing/2014/main" id="{287DA32D-8ACB-4C6A-ABA4-6AEDD510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DENTRO DE docs/</a:t>
            </a:r>
          </a:p>
        </p:txBody>
      </p:sp>
      <p:sp>
        <p:nvSpPr>
          <p:cNvPr id="9" name="docs-arvore">
            <a:extLst xmlns:a="http://schemas.openxmlformats.org/drawingml/2006/main">
              <a:ext uri="{FF2B5EF4-FFF2-40B4-BE49-F238E27FC236}">
                <a16:creationId xmlns:a16="http://schemas.microsoft.com/office/drawing/2014/main" id="{698C6F3C-C0B6-49BB-A8D0-6004FF9F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aceite/          matriz e relatórios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apresentacao/    passagem à T.I.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arquitetura/     contratos e mapas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contexto/        resumos para agentes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design-system/   identidade visual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diario/          histórico técnico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operacao/        instalação e execução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planejamento/    marcos e backlog</a:t>
            </a:r>
          </a:p>
          <a:p xmlns:a="http://schemas.openxmlformats.org/drawingml/2006/main">
            <a: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└── revisoes/        análises realizadas</a:t>
            </a:r>
          </a:p>
        </p:txBody>
      </p:sp>
      <p:sp>
        <p:nvSpPr>
          <p:cNvPr id="10" name="roteiro-leitura">
            <a:extLst xmlns:a="http://schemas.openxmlformats.org/drawingml/2006/main">
              <a:ext uri="{FF2B5EF4-FFF2-40B4-BE49-F238E27FC236}">
                <a16:creationId xmlns:a16="http://schemas.microsoft.com/office/drawing/2014/main" id="{D51871C4-28B9-4E5E-A6F5-158987C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515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3335">
            <a:solidFill>
              <a:srgbClr val="087A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Roteiro inicial: README  ›  docs/operacao  ›  docs/arquitetura  ›  docs/aceite  ›  app + testes</a:t>
            </a:r>
          </a:p>
        </p:txBody>
      </p:sp>
      <p:sp>
        <p:nvSpPr>
          <p:cNvPr id="11" name="linha-rodape">
            <a:extLst xmlns:a="http://schemas.openxmlformats.org/drawingml/2006/main">
              <a:ext uri="{FF2B5EF4-FFF2-40B4-BE49-F238E27FC236}">
                <a16:creationId xmlns:a16="http://schemas.microsoft.com/office/drawing/2014/main" id="{443857C2-8869-49A5-A5CB-61CC347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ero-pagina-repositorio">
            <a:extLst xmlns:a="http://schemas.openxmlformats.org/drawingml/2006/main">
              <a:ext uri="{FF2B5EF4-FFF2-40B4-BE49-F238E27FC236}">
                <a16:creationId xmlns:a16="http://schemas.microsoft.com/office/drawing/2014/main" id="{25E139BA-B006-42E9-83D1-A86F4586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B78"/>
                </a:solidFill>
                <a:latin typeface="Aptos"/>
                <a:ea typeface="Aptos"/>
                <a:cs typeface="Aptos"/>
              </a:rPr>
              <a:t>5/14</a:t>
            </a:r>
          </a:p>
        </p:txBody>
      </p:sp>
      <p:sp>
        <p:nvSpPr>
          <p:cNvPr id="13" name="rodape-institucional">
            <a:extLst xmlns:a="http://schemas.openxmlformats.org/drawingml/2006/main">
              <a:ext uri="{FF2B5EF4-FFF2-40B4-BE49-F238E27FC236}">
                <a16:creationId xmlns:a16="http://schemas.microsoft.com/office/drawing/2014/main" id="{88D5271B-2B06-4475-87D8-156B8F5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96B78"/>
                </a:solidFill>
                <a:latin typeface="Aptos"/>
                <a:ea typeface="Aptos"/>
                <a:cs typeface="Aptos"/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435840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56199-1763-4C60-8013-A72E468E115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619750" y="53054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BDA5E-619F-459B-AD7D-B996708883C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381500" y="4819650"/>
            <a:ext cx="1714500" cy="171450"/>
          </a:xfrm>
          <a:prstGeom xmlns:a="http://schemas.openxmlformats.org/drawingml/2006/main" prst="bentConnector4">
            <a:avLst>
              <a:gd name="adj1" fmla="val 0"/>
              <a:gd name="adj2" fmla="val 33333"/>
            </a:avLst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DA598-6809-4812-8C59-367CA5C5D375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40767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6A0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89404-F153-4FD5-8B10-9E368E336B9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38850" y="3143250"/>
            <a:ext cx="5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A45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FAAB2-0003-4D74-816F-93B37EBAD94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228850" y="3143250"/>
            <a:ext cx="386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6E9F"/>
            </a:solidFill>
            <a:prstDash val="solid"/>
            <a:tailEnd type="arrow" w="med" len="med"/>
          </a:ln>
        </p:spPr>
      </p:cxnSp>
      <p:sp>
        <p:nvSpPr>
          <p:cNvPr id="27" name="titulo-papeis">
            <a:extLst xmlns:a="http://schemas.openxmlformats.org/drawingml/2006/main">
              <a:ext uri="{FF2B5EF4-FFF2-40B4-BE49-F238E27FC236}">
                <a16:creationId xmlns:a16="http://schemas.microsoft.com/office/drawing/2014/main" id="{F0194C0A-8F04-476E-8B0F-AD5075E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Papéis no levantamento e na futura operação</a:t>
            </a:r>
          </a:p>
        </p:txBody>
      </p:sp>
      <p:sp>
        <p:nvSpPr>
          <p:cNvPr id="2" name="subtitulo-papeis">
            <a:extLst xmlns:a="http://schemas.openxmlformats.org/drawingml/2006/main">
              <a:ext uri="{FF2B5EF4-FFF2-40B4-BE49-F238E27FC236}">
                <a16:creationId xmlns:a16="http://schemas.microsoft.com/office/drawing/2014/main" id="{161CD0FA-0F18-4ACB-BC5B-90DBD66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8"/>
                </a:solidFill>
                <a:latin typeface="Aptos"/>
                <a:ea typeface="Aptos"/>
                <a:cs typeface="Aptos"/>
              </a:rPr>
              <a:t>Abertura, preenchimento e passagem institucional para a T.I.</a:t>
            </a:r>
          </a:p>
        </p:txBody>
      </p:sp>
      <p:sp>
        <p:nvSpPr>
          <p:cNvPr id="3" name="regua-verde">
            <a:extLst xmlns:a="http://schemas.openxmlformats.org/drawingml/2006/main">
              <a:ext uri="{FF2B5EF4-FFF2-40B4-BE49-F238E27FC236}">
                <a16:creationId xmlns:a16="http://schemas.microsoft.com/office/drawing/2014/main" id="{D4A72CC4-417C-414B-851A-B270AA3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8D011-A7B7-482A-9AB6-52E6482A9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e32d1246c4ed0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etiqueta-secretaria">
            <a:extLst xmlns:a="http://schemas.openxmlformats.org/drawingml/2006/main">
              <a:ext uri="{FF2B5EF4-FFF2-40B4-BE49-F238E27FC236}">
                <a16:creationId xmlns:a16="http://schemas.microsoft.com/office/drawing/2014/main" id="{A8D353CC-41AA-454C-8B9C-0DF8EE1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NA SECRETARIA RESPONSÁVEL</a:t>
            </a:r>
          </a:p>
        </p:txBody>
      </p:sp>
      <p:sp>
        <p:nvSpPr>
          <p:cNvPr id="6" name="agente-publico-autorizado">
            <a:extLst xmlns:a="http://schemas.openxmlformats.org/drawingml/2006/main">
              <a:ext uri="{FF2B5EF4-FFF2-40B4-BE49-F238E27FC236}">
                <a16:creationId xmlns:a16="http://schemas.microsoft.com/office/drawing/2014/main" id="{83DA8BAC-2722-4C39-93C9-B71CF07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7" name="agente-titulo">
            <a:extLst xmlns:a="http://schemas.openxmlformats.org/drawingml/2006/main">
              <a:ext uri="{FF2B5EF4-FFF2-40B4-BE49-F238E27FC236}">
                <a16:creationId xmlns:a16="http://schemas.microsoft.com/office/drawing/2014/main" id="{2E167ED2-A756-4285-A5EB-C9CEFD6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AGENTE PÚBLICO AUTORIZADO</a:t>
            </a:r>
          </a:p>
        </p:txBody>
      </p:sp>
      <p:sp>
        <p:nvSpPr>
          <p:cNvPr id="8" name="agente-funcao">
            <a:extLst xmlns:a="http://schemas.openxmlformats.org/drawingml/2006/main">
              <a:ext uri="{FF2B5EF4-FFF2-40B4-BE49-F238E27FC236}">
                <a16:creationId xmlns:a16="http://schemas.microsoft.com/office/drawing/2014/main" id="{ACC2CA99-31C1-4FAB-BAE9-2746880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Abre o Registro, coordena o levantamento e acompanha pendências.</a:t>
            </a:r>
          </a:p>
        </p:txBody>
      </p:sp>
      <p:sp>
        <p:nvSpPr>
          <p:cNvPr id="9" name="agente-acumula">
            <a:extLst xmlns:a="http://schemas.openxmlformats.org/drawingml/2006/main">
              <a:ext uri="{FF2B5EF4-FFF2-40B4-BE49-F238E27FC236}">
                <a16:creationId xmlns:a16="http://schemas.microsoft.com/office/drawing/2014/main" id="{B0279DA4-623E-4A97-963D-AE2FFF4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5527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6E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6E9F"/>
                </a:solidFill>
                <a:latin typeface="Aptos"/>
                <a:ea typeface="Aptos"/>
                <a:cs typeface="Aptos"/>
              </a:rPr>
              <a:t>Pode também preencher o FORM 1</a:t>
            </a:r>
          </a:p>
        </p:txBody>
      </p:sp>
      <p:sp>
        <p:nvSpPr>
          <p:cNvPr id="10" name="equipe-preenchimento">
            <a:extLst xmlns:a="http://schemas.openxmlformats.org/drawingml/2006/main">
              <a:ext uri="{FF2B5EF4-FFF2-40B4-BE49-F238E27FC236}">
                <a16:creationId xmlns:a16="http://schemas.microsoft.com/office/drawing/2014/main" id="{0B47BC74-A2C5-4415-9705-C034BCB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11" name="equipe-titulo">
            <a:extLst xmlns:a="http://schemas.openxmlformats.org/drawingml/2006/main">
              <a:ext uri="{FF2B5EF4-FFF2-40B4-BE49-F238E27FC236}">
                <a16:creationId xmlns:a16="http://schemas.microsoft.com/office/drawing/2014/main" id="{1F6EF17E-F7C0-47AD-92E3-A7A951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EQUIPE DE PREENCHIMENTO</a:t>
            </a:r>
          </a:p>
        </p:txBody>
      </p:sp>
      <p:sp>
        <p:nvSpPr>
          <p:cNvPr id="12" name="equipe-funcao">
            <a:extLst xmlns:a="http://schemas.openxmlformats.org/drawingml/2006/main">
              <a:ext uri="{FF2B5EF4-FFF2-40B4-BE49-F238E27FC236}">
                <a16:creationId xmlns:a16="http://schemas.microsoft.com/office/drawing/2014/main" id="{C2F441D1-6B5B-4FFA-A621-E3C6058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Servidores autorizados que executam ou conhecem a rotina colaboram com autoria individual.</a:t>
            </a:r>
          </a:p>
        </p:txBody>
      </p:sp>
      <p:sp>
        <p:nvSpPr>
          <p:cNvPr id="13" name="form1-registro">
            <a:extLst xmlns:a="http://schemas.openxmlformats.org/drawingml/2006/main">
              <a:ext uri="{FF2B5EF4-FFF2-40B4-BE49-F238E27FC236}">
                <a16:creationId xmlns:a16="http://schemas.microsoft.com/office/drawing/2014/main" id="{5626A6C6-90B6-4F59-81D7-E078FAC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304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9050">
            <a:solidFill>
              <a:srgbClr val="087A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REGISTRO LGPD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FORM 1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Secretaria mantém a responsabilidade</a:t>
            </a:r>
          </a:p>
        </p:txBody>
      </p:sp>
      <p:sp>
        <p:nvSpPr>
          <p:cNvPr id="16" name="gate-passagem-ti">
            <a:extLst xmlns:a="http://schemas.openxmlformats.org/drawingml/2006/main">
              <a:ext uri="{FF2B5EF4-FFF2-40B4-BE49-F238E27FC236}">
                <a16:creationId xmlns:a16="http://schemas.microsoft.com/office/drawing/2014/main" id="{9C2C7E2D-24EF-4499-AC9B-43EFCF8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4876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7145">
            <a:solidFill>
              <a:srgbClr val="B3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4700"/>
                </a:solidFill>
                <a:latin typeface="Aptos"/>
                <a:ea typeface="Aptos"/>
                <a:cs typeface="Aptos"/>
              </a:rPr>
              <a:t>Após a PoC ampliada e a passagem institucional</a:t>
            </a:r>
          </a:p>
        </p:txBody>
      </p:sp>
      <p:sp>
        <p:nvSpPr>
          <p:cNvPr id="18" name="etiqueta-ti">
            <a:extLst xmlns:a="http://schemas.openxmlformats.org/drawingml/2006/main">
              <a:ext uri="{FF2B5EF4-FFF2-40B4-BE49-F238E27FC236}">
                <a16:creationId xmlns:a16="http://schemas.microsoft.com/office/drawing/2014/main" id="{967424C7-6B01-483A-990C-57A9536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NA SECRETARIA DE T.I.</a:t>
            </a:r>
          </a:p>
        </p:txBody>
      </p:sp>
      <p:sp>
        <p:nvSpPr>
          <p:cNvPr id="19" name="analista-ti">
            <a:extLst xmlns:a="http://schemas.openxmlformats.org/drawingml/2006/main">
              <a:ext uri="{FF2B5EF4-FFF2-40B4-BE49-F238E27FC236}">
                <a16:creationId xmlns:a16="http://schemas.microsoft.com/office/drawing/2014/main" id="{98CD78AA-7A35-40FA-A002-996539B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ANALISTA DA T.I.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Examina e solicita correções</a:t>
            </a:r>
          </a:p>
        </p:txBody>
      </p:sp>
      <p:sp>
        <p:nvSpPr>
          <p:cNvPr id="20" name="validador-ti">
            <a:extLst xmlns:a="http://schemas.openxmlformats.org/drawingml/2006/main">
              <a:ext uri="{FF2B5EF4-FFF2-40B4-BE49-F238E27FC236}">
                <a16:creationId xmlns:a16="http://schemas.microsoft.com/office/drawing/2014/main" id="{E0F14E9E-0AB6-44D3-B8CA-7238CB5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VALIDADOR DA T.I.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Decide com segregação de funções</a:t>
            </a:r>
          </a:p>
        </p:txBody>
      </p:sp>
      <p:sp>
        <p:nvSpPr>
          <p:cNvPr id="23" name="nota-responsabilidade">
            <a:extLst xmlns:a="http://schemas.openxmlformats.org/drawingml/2006/main">
              <a:ext uri="{FF2B5EF4-FFF2-40B4-BE49-F238E27FC236}">
                <a16:creationId xmlns:a16="http://schemas.microsoft.com/office/drawing/2014/main" id="{37ACBFFD-C72A-4C9C-8454-AF9C6BEA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34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A colaboração não transfere o Registro: a Secretaria que executa o objeto permanece responsável pelo conteúdo.</a:t>
            </a:r>
          </a:p>
        </p:txBody>
      </p:sp>
      <p:sp>
        <p:nvSpPr>
          <p:cNvPr id="24" name="linha-rodape">
            <a:extLst xmlns:a="http://schemas.openxmlformats.org/drawingml/2006/main">
              <a:ext uri="{FF2B5EF4-FFF2-40B4-BE49-F238E27FC236}">
                <a16:creationId xmlns:a16="http://schemas.microsoft.com/office/drawing/2014/main" id="{B020681D-58AA-41A5-ABA5-C198E2E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umero-pagina-novo">
            <a:extLst xmlns:a="http://schemas.openxmlformats.org/drawingml/2006/main">
              <a:ext uri="{FF2B5EF4-FFF2-40B4-BE49-F238E27FC236}">
                <a16:creationId xmlns:a16="http://schemas.microsoft.com/office/drawing/2014/main" id="{8E9E19C2-FDC6-4922-ADCA-7EC9187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B78"/>
                </a:solidFill>
                <a:latin typeface="Aptos"/>
                <a:ea typeface="Aptos"/>
                <a:cs typeface="Aptos"/>
              </a:rPr>
              <a:t>6/14</a:t>
            </a:r>
          </a:p>
        </p:txBody>
      </p:sp>
      <p:sp>
        <p:nvSpPr>
          <p:cNvPr id="26" name="rodape-institucional">
            <a:extLst xmlns:a="http://schemas.openxmlformats.org/drawingml/2006/main">
              <a:ext uri="{FF2B5EF4-FFF2-40B4-BE49-F238E27FC236}">
                <a16:creationId xmlns:a16="http://schemas.microsoft.com/office/drawing/2014/main" id="{A4917F67-EBDB-4E0D-AEB3-DFA4AE7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96B78"/>
                </a:solidFill>
                <a:latin typeface="Aptos"/>
                <a:ea typeface="Aptos"/>
                <a:cs typeface="Aptos"/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47584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06C20-1C98-44DD-8F3F-2000FD9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nuclear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C364-00B3-4C37-85B9-5599015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Validação do núcleo com dados exclusivamente fictícios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2F9F5-F6CF-4373-93E2-5675A7AC7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bf4f374934639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1E06-FC92-4F73-ABF4-9FAE5BC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07E9-1748-4306-BB0C-2F41491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3F8E-F6D3-497A-99D3-F60AB26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FCA9C-1BF3-481B-8C9E-E2B3D27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9DCB8-3C64-4034-9650-006FEA5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núcleo prova que o desenho funciona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0AE5F-8478-4FC5-A539-22BC03A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7E45-9841-4256-AE9E-E93913A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Validar criação do Registro, início e salvamento do FORM 1, segregação institucional, pendências e rastreabilidade dos atos.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713F2-3BA9-44A3-A504-612D25E9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21D9D-AFCD-400B-82BE-9406781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A86F6-740D-4131-9077-ABB58C5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Código executável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Nove testes formais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Evidências e diário de execução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Registro persistido no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267D4-5C50-49A4-93D6-2FF4F7B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14F0-499A-47D7-B469-6238633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591C-7054-48B5-8D7F-D99E991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M1a encerra com evidências, apresentação à T.I. e ata. A ampliação exige decisão expressa.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EB1B-08BE-4F51-88A2-7B6A8D3B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35293-99ED-4C27-9A4D-38D5B6A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7/14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E2AEC-F11F-48AD-94A1-A817300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517815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5B073-450B-4D1E-8343-58702B7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EC997-DBC2-40F4-9BDB-2A82910C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Levantamento nas Secretarias, acompanhado pela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045BE-FFD8-4B66-906E-F68D49F6A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a25e00e7c4ca4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2B81-2E70-4DA4-AD1E-AE637A9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52426-5C8F-4125-A8E2-116772D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4FED-C764-484D-B582-D44B62F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BE849-FCB1-4445-8B6C-D73D8D27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08D60-96A4-4A9B-BD8B-466B89F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realidade de campo retroalimenta o FORM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1074-CF5D-47C6-83BF-A2C9BE6E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5DB9-E628-481F-B2AC-E43B665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Identificar dificuldades de preenchimento, particularidades das Secretarias e informações necessárias para um uso real do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CE68B-1DAF-4082-B943-36010A61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F44E-E8D6-4D4A-B29B-30043E6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D70C8-49FE-4216-BBDF-0D4AF28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Dúvidas e dificuldades registradas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Achados de campo consolidados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Ajustes propostos com justificativa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Histórico das alterações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CE81-2DE2-4C4E-AFAB-3EE1504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DFA44-DDC3-44C9-84A5-800AAD3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8D4CB-D596-4A5F-A097-E20321F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Cada achado passa por análise de impacto. Ajustes pequenos podem refinar o FORM 1 antes da PoC ampliada.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ED81D-630C-4C1B-BBBF-E16ACBA9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A99B7-C0D4-458D-9575-513E63E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8/14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ED727-0B64-42DF-A6E8-A4FD3C6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95320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CD111-1EFB-4675-9663-FD1412E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Decisão de passagem para a 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E2F63-5678-4473-91DB-F803DA0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Ponto formal entre a validação nuclear e a ampliação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BF242-9B38-4102-BE21-65F96AEC7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9d2972cf1419f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8743F-2A4B-4ABD-AA40-512362A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3D5C-C3F6-4431-A147-9F08037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4288">
            <a:solidFill>
              <a:srgbClr val="B36A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C3AB9-5196-4165-823A-D63565C7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6D2A6-945A-40A8-B8BA-0866006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36A00"/>
                </a:solidFill>
              </a:defRPr>
            </a:defPPr>
            <a:lvl1pPr algn="l">
              <a:buNone/>
              <a:defRPr sz="1350" b="1">
                <a:solidFill>
                  <a:srgbClr val="B36A00"/>
                </a:solidFill>
              </a:defRPr>
            </a:lvl1pPr>
            <a:lvl2pPr algn="l">
              <a:buNone/>
              <a:defRPr sz="1350" b="1">
                <a:solidFill>
                  <a:srgbClr val="B36A00"/>
                </a:solidFill>
              </a:defRPr>
            </a:lvl2pPr>
            <a:lvl3pPr algn="l">
              <a:buNone/>
              <a:defRPr sz="1350" b="1">
                <a:solidFill>
                  <a:srgbClr val="B36A00"/>
                </a:solidFill>
              </a:defRPr>
            </a:lvl3pPr>
            <a:lvl4pPr algn="l">
              <a:buNone/>
              <a:defRPr sz="1350" b="1">
                <a:solidFill>
                  <a:srgbClr val="B36A00"/>
                </a:solidFill>
              </a:defRPr>
            </a:lvl4pPr>
            <a:lvl5pPr algn="l">
              <a:buNone/>
              <a:defRPr sz="1350" b="1">
                <a:solidFill>
                  <a:srgbClr val="B36A00"/>
                </a:solidFill>
              </a:defRPr>
            </a:lvl5pPr>
            <a:lvl6pPr algn="l">
              <a:buNone/>
              <a:defRPr sz="1350" b="1">
                <a:solidFill>
                  <a:srgbClr val="B36A00"/>
                </a:solidFill>
              </a:defRPr>
            </a:lvl6pPr>
            <a:lvl7pPr algn="l">
              <a:buNone/>
              <a:defRPr sz="1350" b="1">
                <a:solidFill>
                  <a:srgbClr val="B36A00"/>
                </a:solidFill>
              </a:defRPr>
            </a:lvl7pPr>
            <a:lvl8pPr algn="l">
              <a:buNone/>
              <a:defRPr sz="1350" b="1">
                <a:solidFill>
                  <a:srgbClr val="B36A00"/>
                </a:solidFill>
              </a:defRPr>
            </a:lvl8pPr>
            <a:lvl9pPr algn="l">
              <a:buNone/>
              <a:defRPr sz="13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B36A00"/>
                </a:solidFill>
              </a:defRPr>
            </a:pPr>
            <a:r>
              <a:rPr sz="1350" b="1">
                <a:solidFill>
                  <a:srgbClr val="B36A00"/>
                </a:solidFill>
              </a:rPr>
              <a:t>PLANEJAMENTO 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F32B-62C3-4AE3-8096-2DE0E57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ampliação começa somente após decisão expressa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63F50-54A5-47AD-9CCB-99B822C2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D63BB-9238-449B-A693-F5CB3C5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Confirmar que o M1a foi encerrado, que os achados de campo foram avaliados e que as dependências da próxima etapa estão disponíveis.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FD14-3553-42DE-82FB-2F317FF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FE63D-DB9F-43DC-95C4-7FD11A7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7E95A-CB1A-434E-A609-62E0CCE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Evidências do M1a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Apresentação à T.I.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Ata de aceite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Escopo e dependências confirmados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D2551-6F64-4F8B-93D7-D87689E7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258DC-7D88-4B3E-A090-EF7DFF61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9A032-AC6E-40B8-8039-F306F66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decisão registra avançar, ajustar ou aguardar. Sem essa decisão, o projeto permanece no encerramento da PoC nuclear.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DFEF7-FF9E-4501-9932-3B6132D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D2349-0FF9-423B-BF5B-C9CA1427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9/14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B6D28-09D8-4FD8-836E-DB877E1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66746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0C01-704C-47C1-8077-D6BFE10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F845-4F16-4D5F-9263-E0632E0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Teste do FORM 1 real e de situações operacionais difíceis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1CC9-E87F-4D5E-A053-074C73866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3b2d8f9f74ef3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0B1-3B5C-42D8-852D-DD58F1C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7726-2173-4375-9FB7-13BD5B6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5785-970C-47A4-850B-83665EB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D49-F8B2-4BB6-B1B8-AF51588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91EC9-2637-4F5B-921C-15665CD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ampliação verifica se o desenho resiste à realidade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A742-D70E-4343-B677-04C40BA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49E7-A208-488D-A719-CADD776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Executar o FORM 1 de ponta a ponta e testar suspensão, retomada, cancelamento, reabertura, continuidade institucional e recuperação.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3471-306A-456C-8E00-F9937B6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DCCD-1EC6-49DC-B17A-4A33788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915CC-214E-49C2-A666-BECEE27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FORM 1 real executado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Cenários difíceis testados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Relatório de validação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Relatório de encerramento e transferência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2D229-C34A-4BB5-82D4-21A74CB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E2AF-C1A7-4C8E-B2A0-D6D2350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DFD8-FBD6-4FED-981A-F1BB7D1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etapa prepara um caso piloto controlado, desde que as integrações e responsabilidades estejam confirmadas.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A599E-4273-46B5-B6CD-DA9DC8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1AF41-CD51-4621-A137-A3B85E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10/14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5CBC6-47FF-4DB6-BED2-503E258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77999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F7346-55CC-4E22-908B-F6C25A8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05D3-30A3-491D-B06D-BDC20E7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Implantação controlada sob liderança da Secretaria de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A333-308E-47FB-853E-8448A137B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1b119cd0643ed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5441-81E2-403E-B938-132195E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53DAC-89C7-41DE-AC5D-C0343C2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5EA66-7D24-401B-B7F1-EB2C9CF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A204-66CD-4AB4-8173-8BF4A42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3D6E-DB5D-49B6-A8E3-9652DE7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solução passa da validação para o uso municipal controlado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C3D3C-B1D5-487C-89D5-E703287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3A75-1BAE-448B-A3A5-E6D5FBF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Executar um caso piloto, preparar integrações e suporte, acompanhar o uso e estabelecer a governança da operação.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D8B1C-2EBC-4BCF-99BF-52A287F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85041-BA2A-471E-B479-727E787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874B7-C94E-43E1-B95B-7863E04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Caso piloto definido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Ambiente e integrações preparados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Usuários orientados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Operação acompanhada e documentada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9555F-D2C5-4347-990F-BCED425B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2573B-9232-4A86-AF14-2D52671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0429-6CF5-47BF-B0EF-F1B0BB0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T.I. lidera a implantação. Planejamento transfere conhecimento e apoia a leitura funcional dos instrumentos.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8C35C-9C01-48CA-9974-95C726B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67680-23BE-43AA-B046-E62F1AD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11/14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383C3-BFAD-47EB-A19C-EF3ACD0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5288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28FEA-7664-46A9-B8B5-6A81D04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Objetivos dos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E79C-DA45-479A-B5B0-EFAF1D5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Os instrumentos cobrem realidade, legitimidade, risco e acompanhamento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AEF8-EE17-413E-81A2-212A60378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fd50631614aa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39BC-956A-4AA3-80EB-28B0F07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1BBB-2EFA-4A28-8CD9-8A04F073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CBBE-6C64-42A6-A9DF-BC30F5A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508C-E40C-48A6-9DC9-6C0EE8A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6E9F"/>
                </a:solidFill>
              </a:defRPr>
            </a:defPPr>
            <a:lvl1pPr algn="l">
              <a:buNone/>
              <a:defRPr sz="1575" b="1">
                <a:solidFill>
                  <a:srgbClr val="0B6E9F"/>
                </a:solidFill>
              </a:defRPr>
            </a:lvl1pPr>
            <a:lvl2pPr algn="l">
              <a:buNone/>
              <a:defRPr sz="1575" b="1">
                <a:solidFill>
                  <a:srgbClr val="0B6E9F"/>
                </a:solidFill>
              </a:defRPr>
            </a:lvl2pPr>
            <a:lvl3pPr algn="l">
              <a:buNone/>
              <a:defRPr sz="1575" b="1">
                <a:solidFill>
                  <a:srgbClr val="0B6E9F"/>
                </a:solidFill>
              </a:defRPr>
            </a:lvl3pPr>
            <a:lvl4pPr algn="l">
              <a:buNone/>
              <a:defRPr sz="1575" b="1">
                <a:solidFill>
                  <a:srgbClr val="0B6E9F"/>
                </a:solidFill>
              </a:defRPr>
            </a:lvl4pPr>
            <a:lvl5pPr algn="l">
              <a:buNone/>
              <a:defRPr sz="1575" b="1">
                <a:solidFill>
                  <a:srgbClr val="0B6E9F"/>
                </a:solidFill>
              </a:defRPr>
            </a:lvl5pPr>
            <a:lvl6pPr algn="l">
              <a:buNone/>
              <a:defRPr sz="1575" b="1">
                <a:solidFill>
                  <a:srgbClr val="0B6E9F"/>
                </a:solidFill>
              </a:defRPr>
            </a:lvl6pPr>
            <a:lvl7pPr algn="l">
              <a:buNone/>
              <a:defRPr sz="1575" b="1">
                <a:solidFill>
                  <a:srgbClr val="0B6E9F"/>
                </a:solidFill>
              </a:defRPr>
            </a:lvl7pPr>
            <a:lvl8pPr algn="l">
              <a:buNone/>
              <a:defRPr sz="1575" b="1">
                <a:solidFill>
                  <a:srgbClr val="0B6E9F"/>
                </a:solidFill>
              </a:defRPr>
            </a:lvl8pPr>
            <a:lvl9pPr algn="l">
              <a:buNone/>
              <a:defRPr sz="15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6E9F"/>
                </a:solidFill>
              </a:defRPr>
            </a:pPr>
            <a:r>
              <a:rPr sz="1575" b="1">
                <a:solidFill>
                  <a:srgbClr val="0B6E9F"/>
                </a:solidFill>
              </a:rPr>
              <a:t>Realidade do tratamento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BD302-FC95-4F38-89CA-46964D6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Como o tratamento funciona de fato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2B14-2C52-4C73-AEB6-7EE23FA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Descrever finalidade, titulares, categorias de dados, compartilhamentos e demais características do tratamento, sem cadastrar pessoas titulares.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6ACCE-BCFC-4225-A837-14CFB6B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D4656-B989-459A-9EDD-33E65F6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C8F26-EF3D-427C-934D-A483883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Legitimidade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1711-8A60-4175-9106-6E3A5AF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Por que o tratamento pode ocorrer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B88FA-5C58-4AC2-AFA9-D494380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Registrar a análise que sustenta o tratamento, incluindo hipótese legal, necessidade e compatibilidade com a finalidade declarada.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D448A-E609-428E-9B8C-75BC034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F58B7-17B1-4E10-9B91-7FA3E87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6F33A-61DD-4F58-BF2A-E4D4D11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Risco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70618-55D5-4268-9771-F37B932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pode afetar os titulares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76506-8675-47EE-A294-63E6EB4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Identificar riscos e impactos para os titulares, avaliar controles e indicar quando o tratamento exige análise mais aprofundada.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1F7A6-EF14-49D0-AF55-8823595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CD4DD-A0CF-492F-A833-508F089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30F02-9628-434D-8DBD-32ED7B4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Ação e acompanhamento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4B272-D8E4-4BF0-BC27-3A4CFA8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será feito e acompanhado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123BA-B0D4-4093-B58D-1BA7B56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Organizar medidas, responsáveis, prazos e evidências, permitindo acompanhar a execução e verificar a redução dos riscos.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7A296-AA96-439D-9EF8-0071FF85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36A00"/>
                </a:solidFill>
              </a:defRPr>
            </a:defPPr>
            <a:lvl1pPr algn="ctr">
              <a:buNone/>
              <a:defRPr sz="1050" b="1">
                <a:solidFill>
                  <a:srgbClr val="B36A00"/>
                </a:solidFill>
              </a:defRPr>
            </a:lvl1pPr>
            <a:lvl2pPr algn="ctr">
              <a:buNone/>
              <a:defRPr sz="1050" b="1">
                <a:solidFill>
                  <a:srgbClr val="B36A00"/>
                </a:solidFill>
              </a:defRPr>
            </a:lvl2pPr>
            <a:lvl3pPr algn="ctr">
              <a:buNone/>
              <a:defRPr sz="1050" b="1">
                <a:solidFill>
                  <a:srgbClr val="B36A00"/>
                </a:solidFill>
              </a:defRPr>
            </a:lvl3pPr>
            <a:lvl4pPr algn="ctr">
              <a:buNone/>
              <a:defRPr sz="1050" b="1">
                <a:solidFill>
                  <a:srgbClr val="B36A00"/>
                </a:solidFill>
              </a:defRPr>
            </a:lvl4pPr>
            <a:lvl5pPr algn="ctr">
              <a:buNone/>
              <a:defRPr sz="1050" b="1">
                <a:solidFill>
                  <a:srgbClr val="B36A00"/>
                </a:solidFill>
              </a:defRPr>
            </a:lvl5pPr>
            <a:lvl6pPr algn="ctr">
              <a:buNone/>
              <a:defRPr sz="1050" b="1">
                <a:solidFill>
                  <a:srgbClr val="B36A00"/>
                </a:solidFill>
              </a:defRPr>
            </a:lvl6pPr>
            <a:lvl7pPr algn="ctr">
              <a:buNone/>
              <a:defRPr sz="1050" b="1">
                <a:solidFill>
                  <a:srgbClr val="B36A00"/>
                </a:solidFill>
              </a:defRPr>
            </a:lvl7pPr>
            <a:lvl8pPr algn="ctr">
              <a:buNone/>
              <a:defRPr sz="1050" b="1">
                <a:solidFill>
                  <a:srgbClr val="B36A00"/>
                </a:solidFill>
              </a:defRPr>
            </a:lvl8pPr>
            <a:lvl9pPr algn="ctr">
              <a:buNone/>
              <a:defRPr sz="10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B36A00"/>
                </a:solidFill>
              </a:defRPr>
            </a:pPr>
            <a:r>
              <a:rPr sz="1050" b="1">
                <a:solidFill>
                  <a:srgbClr val="B36A00"/>
                </a:solidFill>
              </a:rPr>
              <a:t>Escopo das PoCs: FORM 1 sintético no M1a e FORM 1 integral na PoC ampliada. Os FORMs 2, 3 e 4 permanecem na arquitetura para etapa posterior.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0E7AC-A1F0-49D3-B517-5209B9D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025FF-B2C4-41A9-A1B2-20C1CDB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12/14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44FA0-F6CE-4392-BE08-87DA374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89823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F02E51-0F72-4A57-92D9-A992906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 de cada SAD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5CD94-8DF3-45EF-8135-92B4FB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Cada documento trata uma dimensão específica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8FF9-AAC0-4739-94CE-0757EDA75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e40f0be22469b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8A76-2C84-4C10-A61E-3227FBC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2ED4-DBDA-4039-99F5-0494614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ADR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628E-3F02-40C8-952F-2C82DB7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Princípios e 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46F3F-8CA3-4C3C-83B8-5C66D86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Fixar princípios, limites e regras que orientam toda a arquitetura.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98434-F9E2-4034-860B-5FD573B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95DC-412A-4646-857F-8055F1A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Visão e escopo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819B-CAC4-42D7-A66B-A186C13B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98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problema, objetivos, fronteiras, premissas, exclusões e partes interessadas.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3D41-A60B-488F-A980-687A89AB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D0A2A-A78F-464B-A784-592FC2E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Requisitos funcionais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EB66C-B7EC-4FE1-A1AD-72019D6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Especificar jornadas, comportamentos, regras funcionais e resultados esperados.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8DAAF-CAFC-4B6B-AFA3-BE01D20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89809-111D-483E-9B59-5B6BDD02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Atores, papéis e permissões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52F7B-6B08-40CA-826B-39B31BB8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identidades, responsabilidades, alcance institucional e segregação de funções.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36AD9-9687-47DA-9328-233DFC6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FE19-94E5-446E-B2FE-ADCD10A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Workflow e estados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2AECD-F092-42C7-8170-CCC4BBB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24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Descrever estados, transições, atos, pendências, cenários e ciclo de vida.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830FD-D738-4480-8CD2-10E806E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A8492-0587-48CB-90CC-FFAD3536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Dados e identificadores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2B406-913D-4E10-9D60-471E177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292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Modelar entidades, relações, identificadores, catálogos e regras de persistência.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672DC-D022-46F9-86EF-590657A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4733B-966D-411B-80F2-BAC0EC18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Integrações e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ADD14-CC09-4D2C-A3B9-6B3A1F4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interfaces, contratos de integração, idempotência e tratamento de falhas.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C7494-E155-4FA8-95AD-CF564B5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6BCA9-4824-4B54-BA5C-9D24042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Relatórios e dashboards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7CB22-A7C8-4AF4-B71A-CFD52E3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860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Reservar visões, indicadores e acompanhamento operacional e gerencial. Ainda não elaborado.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8C50A-0840-4519-A515-6B5FCB2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AD311-3E4F-4E0D-90B8-49714D1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Segurança, auditoria e rastreabilidade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BFF75-ABD3-4350-8969-C2E738C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controle de acesso, auditoria, integridade, evidências e reconstrução da trilha.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D0F73-4DE6-4F92-8CE7-82497D1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DCAFD-0F35-4EED-A5A5-8AFAB7F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0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PoC e validação técnica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EE4F9-ED26-4B09-B2FF-84F902D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camadas, marcos, cenários, testes, critérios de aceite e transferência técnica.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8CEFD-573B-491B-81F1-3FB7C3C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9CE17-4270-417E-A5D6-25EF6FD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Decisões de arquitetura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2007D-0E6F-42C9-A763-7AE3D16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291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Registrar decisões, alternativas, justificativas, impactos e questões em aberto.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94957-5EF3-469B-AABB-E6B63E0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6B829E-1E4B-4E08-9572-D82148B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13/14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5C5F4D-30E8-4240-88FB-864EE70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213618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C99AB-EE9A-44DF-A6DD-BB40B7C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Evidências da PoC nuclear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014A-63F4-4105-8D4B-3734CF1D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Rodada complementar M1A-20261024-002 vinculada ao commit cada2fc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3E879-90D6-4B53-8963-16880CC59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bec71731a4d64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A834-487F-47EE-98C7-107E68B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F78B-EEDF-4B36-A55D-D4C10C5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87A45"/>
                </a:solidFill>
              </a:defRPr>
            </a:defPPr>
            <a:lvl1pPr algn="l">
              <a:buNone/>
              <a:defRPr sz="4950" b="1">
                <a:solidFill>
                  <a:srgbClr val="087A45"/>
                </a:solidFill>
              </a:defRPr>
            </a:lvl1pPr>
            <a:lvl2pPr algn="l">
              <a:buNone/>
              <a:defRPr sz="4950" b="1">
                <a:solidFill>
                  <a:srgbClr val="087A45"/>
                </a:solidFill>
              </a:defRPr>
            </a:lvl2pPr>
            <a:lvl3pPr algn="l">
              <a:buNone/>
              <a:defRPr sz="4950" b="1">
                <a:solidFill>
                  <a:srgbClr val="087A45"/>
                </a:solidFill>
              </a:defRPr>
            </a:lvl3pPr>
            <a:lvl4pPr algn="l">
              <a:buNone/>
              <a:defRPr sz="4950" b="1">
                <a:solidFill>
                  <a:srgbClr val="087A45"/>
                </a:solidFill>
              </a:defRPr>
            </a:lvl4pPr>
            <a:lvl5pPr algn="l">
              <a:buNone/>
              <a:defRPr sz="4950" b="1">
                <a:solidFill>
                  <a:srgbClr val="087A45"/>
                </a:solidFill>
              </a:defRPr>
            </a:lvl5pPr>
            <a:lvl6pPr algn="l">
              <a:buNone/>
              <a:defRPr sz="4950" b="1">
                <a:solidFill>
                  <a:srgbClr val="087A45"/>
                </a:solidFill>
              </a:defRPr>
            </a:lvl6pPr>
            <a:lvl7pPr algn="l">
              <a:buNone/>
              <a:defRPr sz="4950" b="1">
                <a:solidFill>
                  <a:srgbClr val="087A45"/>
                </a:solidFill>
              </a:defRPr>
            </a:lvl7pPr>
            <a:lvl8pPr algn="l">
              <a:buNone/>
              <a:defRPr sz="4950" b="1">
                <a:solidFill>
                  <a:srgbClr val="087A45"/>
                </a:solidFill>
              </a:defRPr>
            </a:lvl8pPr>
            <a:lvl9pPr algn="l">
              <a:buNone/>
              <a:defRPr sz="49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087A45"/>
                </a:solidFill>
              </a:defRPr>
            </a:pPr>
            <a:r>
              <a:rPr sz="4950" b="1">
                <a:solidFill>
                  <a:srgbClr val="087A45"/>
                </a:solidFill>
              </a:rPr>
              <a:t>193/193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6BC0-3E58-429E-99AD-37412DB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042"/>
                </a:solidFill>
              </a:defRPr>
            </a:defPPr>
            <a:lvl1pPr algn="l">
              <a:buNone/>
              <a:defRPr sz="1650" b="1">
                <a:solidFill>
                  <a:srgbClr val="173042"/>
                </a:solidFill>
              </a:defRPr>
            </a:lvl1pPr>
            <a:lvl2pPr algn="l">
              <a:buNone/>
              <a:defRPr sz="1650" b="1">
                <a:solidFill>
                  <a:srgbClr val="173042"/>
                </a:solidFill>
              </a:defRPr>
            </a:lvl2pPr>
            <a:lvl3pPr algn="l">
              <a:buNone/>
              <a:defRPr sz="1650" b="1">
                <a:solidFill>
                  <a:srgbClr val="173042"/>
                </a:solidFill>
              </a:defRPr>
            </a:lvl3pPr>
            <a:lvl4pPr algn="l">
              <a:buNone/>
              <a:defRPr sz="1650" b="1">
                <a:solidFill>
                  <a:srgbClr val="173042"/>
                </a:solidFill>
              </a:defRPr>
            </a:lvl4pPr>
            <a:lvl5pPr algn="l">
              <a:buNone/>
              <a:defRPr sz="1650" b="1">
                <a:solidFill>
                  <a:srgbClr val="173042"/>
                </a:solidFill>
              </a:defRPr>
            </a:lvl5pPr>
            <a:lvl6pPr algn="l">
              <a:buNone/>
              <a:defRPr sz="1650" b="1">
                <a:solidFill>
                  <a:srgbClr val="173042"/>
                </a:solidFill>
              </a:defRPr>
            </a:lvl6pPr>
            <a:lvl7pPr algn="l">
              <a:buNone/>
              <a:defRPr sz="1650" b="1">
                <a:solidFill>
                  <a:srgbClr val="173042"/>
                </a:solidFill>
              </a:defRPr>
            </a:lvl7pPr>
            <a:lvl8pPr algn="l">
              <a:buNone/>
              <a:defRPr sz="1650" b="1">
                <a:solidFill>
                  <a:srgbClr val="173042"/>
                </a:solidFill>
              </a:defRPr>
            </a:lvl8pPr>
            <a:lvl9pPr algn="l">
              <a:buNone/>
              <a:defRPr sz="1650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73042"/>
                </a:solidFill>
              </a:defRPr>
            </a:pPr>
            <a:r>
              <a:rPr sz="1650" b="1">
                <a:solidFill>
                  <a:srgbClr val="173042"/>
                </a:solidFill>
              </a:rPr>
              <a:t>testes automatizados 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25464-4F2D-443A-8FF3-6F2683E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0 falhas   0 erros   0 ignorados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7E127-C3AF-4149-928D-C2E0C0F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FA12A-5859-4855-AAA0-E03334AB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0B6E9F"/>
                </a:solidFill>
              </a:defRPr>
            </a:defPPr>
            <a:lvl1pPr algn="l">
              <a:buNone/>
              <a:defRPr sz="4050" b="1">
                <a:solidFill>
                  <a:srgbClr val="0B6E9F"/>
                </a:solidFill>
              </a:defRPr>
            </a:lvl1pPr>
            <a:lvl2pPr algn="l">
              <a:buNone/>
              <a:defRPr sz="4050" b="1">
                <a:solidFill>
                  <a:srgbClr val="0B6E9F"/>
                </a:solidFill>
              </a:defRPr>
            </a:lvl2pPr>
            <a:lvl3pPr algn="l">
              <a:buNone/>
              <a:defRPr sz="4050" b="1">
                <a:solidFill>
                  <a:srgbClr val="0B6E9F"/>
                </a:solidFill>
              </a:defRPr>
            </a:lvl3pPr>
            <a:lvl4pPr algn="l">
              <a:buNone/>
              <a:defRPr sz="4050" b="1">
                <a:solidFill>
                  <a:srgbClr val="0B6E9F"/>
                </a:solidFill>
              </a:defRPr>
            </a:lvl4pPr>
            <a:lvl5pPr algn="l">
              <a:buNone/>
              <a:defRPr sz="4050" b="1">
                <a:solidFill>
                  <a:srgbClr val="0B6E9F"/>
                </a:solidFill>
              </a:defRPr>
            </a:lvl5pPr>
            <a:lvl6pPr algn="l">
              <a:buNone/>
              <a:defRPr sz="4050" b="1">
                <a:solidFill>
                  <a:srgbClr val="0B6E9F"/>
                </a:solidFill>
              </a:defRPr>
            </a:lvl6pPr>
            <a:lvl7pPr algn="l">
              <a:buNone/>
              <a:defRPr sz="4050" b="1">
                <a:solidFill>
                  <a:srgbClr val="0B6E9F"/>
                </a:solidFill>
              </a:defRPr>
            </a:lvl7pPr>
            <a:lvl8pPr algn="l">
              <a:buNone/>
              <a:defRPr sz="4050" b="1">
                <a:solidFill>
                  <a:srgbClr val="0B6E9F"/>
                </a:solidFill>
              </a:defRPr>
            </a:lvl8pPr>
            <a:lvl9pPr algn="l">
              <a:buNone/>
              <a:defRPr sz="40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0B6E9F"/>
                </a:solidFill>
              </a:defRPr>
            </a:pPr>
            <a:r>
              <a:rPr sz="4050" b="1">
                <a:solidFill>
                  <a:srgbClr val="0B6E9F"/>
                </a:solidFill>
              </a:rPr>
              <a:t>9/9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002A-FFA6-4C68-9ADA-2B652CD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cenários POC-TS aprovados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14D32-E676-4C08-8F53-BD44297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96B78"/>
                </a:solidFill>
              </a:defRPr>
            </a:defPPr>
            <a:lvl1pPr algn="l">
              <a:buNone/>
              <a:defRPr sz="1200" b="0">
                <a:solidFill>
                  <a:srgbClr val="596B78"/>
                </a:solidFill>
              </a:defRPr>
            </a:lvl1pPr>
            <a:lvl2pPr algn="l">
              <a:buNone/>
              <a:defRPr sz="1200" b="0">
                <a:solidFill>
                  <a:srgbClr val="596B78"/>
                </a:solidFill>
              </a:defRPr>
            </a:lvl2pPr>
            <a:lvl3pPr algn="l">
              <a:buNone/>
              <a:defRPr sz="1200" b="0">
                <a:solidFill>
                  <a:srgbClr val="596B78"/>
                </a:solidFill>
              </a:defRPr>
            </a:lvl3pPr>
            <a:lvl4pPr algn="l">
              <a:buNone/>
              <a:defRPr sz="1200" b="0">
                <a:solidFill>
                  <a:srgbClr val="596B78"/>
                </a:solidFill>
              </a:defRPr>
            </a:lvl4pPr>
            <a:lvl5pPr algn="l">
              <a:buNone/>
              <a:defRPr sz="1200" b="0">
                <a:solidFill>
                  <a:srgbClr val="596B78"/>
                </a:solidFill>
              </a:defRPr>
            </a:lvl5pPr>
            <a:lvl6pPr algn="l">
              <a:buNone/>
              <a:defRPr sz="1200" b="0">
                <a:solidFill>
                  <a:srgbClr val="596B78"/>
                </a:solidFill>
              </a:defRPr>
            </a:lvl6pPr>
            <a:lvl7pPr algn="l">
              <a:buNone/>
              <a:defRPr sz="1200" b="0">
                <a:solidFill>
                  <a:srgbClr val="596B78"/>
                </a:solidFill>
              </a:defRPr>
            </a:lvl7pPr>
            <a:lvl8pPr algn="l">
              <a:buNone/>
              <a:defRPr sz="1200" b="0">
                <a:solidFill>
                  <a:srgbClr val="596B78"/>
                </a:solidFill>
              </a:defRPr>
            </a:lvl8pPr>
            <a:lvl9pPr algn="l">
              <a:buNone/>
              <a:defRPr sz="120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96B78"/>
                </a:solidFill>
              </a:defRPr>
            </a:pPr>
            <a:r>
              <a:rPr sz="1200" b="0">
                <a:solidFill>
                  <a:srgbClr val="596B78"/>
                </a:solidFill>
              </a:rPr>
              <a:t>Idempotência, concorrência, rollback, controle de versão, autorização, barreira de dados reais e reconstrução.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5515-6392-46DE-825F-7F6000A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A029-78D6-4B00-ACC9-1D47D0C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Ensaio de 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9C01B-4B93-4B53-B1A9-54C6229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1.000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488B8-72B0-4F9C-8CF7-CF2AC32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Registros sintéticos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44945-3BB5-4D19-BCFF-B4050929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50.000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E5508-9048-469D-81D3-57640CF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eventos conferidos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1B406-089E-4A97-B127-6491FE03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1.000/1.000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43000-F422-4CB5-8537-6022ADA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cadeias íntegras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4513F-7171-49FB-997A-968A28C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25/25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607FC-4381-4678-A123-5071FE4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reconstruções coincidentes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9BC29-7573-47DE-80E2-8BB2282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63" b="1">
                <a:solidFill>
                  <a:srgbClr val="B36A00"/>
                </a:solidFill>
              </a:defRPr>
            </a:defPPr>
            <a:lvl1pPr algn="ctr">
              <a:buNone/>
              <a:defRPr sz="1163" b="1">
                <a:solidFill>
                  <a:srgbClr val="B36A00"/>
                </a:solidFill>
              </a:defRPr>
            </a:lvl1pPr>
            <a:lvl2pPr algn="ctr">
              <a:buNone/>
              <a:defRPr sz="1163" b="1">
                <a:solidFill>
                  <a:srgbClr val="B36A00"/>
                </a:solidFill>
              </a:defRPr>
            </a:lvl2pPr>
            <a:lvl3pPr algn="ctr">
              <a:buNone/>
              <a:defRPr sz="1163" b="1">
                <a:solidFill>
                  <a:srgbClr val="B36A00"/>
                </a:solidFill>
              </a:defRPr>
            </a:lvl3pPr>
            <a:lvl4pPr algn="ctr">
              <a:buNone/>
              <a:defRPr sz="1163" b="1">
                <a:solidFill>
                  <a:srgbClr val="B36A00"/>
                </a:solidFill>
              </a:defRPr>
            </a:lvl4pPr>
            <a:lvl5pPr algn="ctr">
              <a:buNone/>
              <a:defRPr sz="1163" b="1">
                <a:solidFill>
                  <a:srgbClr val="B36A00"/>
                </a:solidFill>
              </a:defRPr>
            </a:lvl5pPr>
            <a:lvl6pPr algn="ctr">
              <a:buNone/>
              <a:defRPr sz="1163" b="1">
                <a:solidFill>
                  <a:srgbClr val="B36A00"/>
                </a:solidFill>
              </a:defRPr>
            </a:lvl6pPr>
            <a:lvl7pPr algn="ctr">
              <a:buNone/>
              <a:defRPr sz="1163" b="1">
                <a:solidFill>
                  <a:srgbClr val="B36A00"/>
                </a:solidFill>
              </a:defRPr>
            </a:lvl7pPr>
            <a:lvl8pPr algn="ctr">
              <a:buNone/>
              <a:defRPr sz="1163" b="1">
                <a:solidFill>
                  <a:srgbClr val="B36A00"/>
                </a:solidFill>
              </a:defRPr>
            </a:lvl8pPr>
            <a:lvl9pPr algn="ctr">
              <a:buNone/>
              <a:defRPr sz="11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163" b="1">
                <a:solidFill>
                  <a:srgbClr val="B36A00"/>
                </a:solidFill>
              </a:defRPr>
            </a:pPr>
            <a:r>
              <a:rPr sz="1163" b="1">
                <a:solidFill>
                  <a:srgbClr val="B36A00"/>
                </a:solidFill>
              </a:rPr>
              <a:t>Resultado técnico pronto para conferência na apresentação. O aceite institucional será registrado em 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950D3-9914-4194-B29A-71BDF43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053BF-6C75-47B0-8EC1-F2715EF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14/14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E4F08-D4FB-4B47-B217-40A8DF4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143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2026-10-24T17:24:51.1830000Z</dcterms:created>
  <dcterms:modified xsi:type="dcterms:W3CDTF">2026-10-24T17:24:51.1840000Z</dcterms:modified>
</coreProperties>
</file>